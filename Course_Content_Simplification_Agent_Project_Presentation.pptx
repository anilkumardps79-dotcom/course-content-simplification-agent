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10789920" cy="457200"/>
          </a:xfrm>
          <a:prstGeom prst="rect">
            <a:avLst/>
          </a:prstGeom>
          <a:noFill/>
        </p:spPr>
        <p:txBody>
          <a:bodyPr wrap="square">
            <a:spAutoFit/>
          </a:bodyPr>
          <a:lstStyle/>
          <a:p>
            <a:r>
              <a:rPr sz="1500" b="1">
                <a:solidFill>
                  <a:srgbClr val="22D3EE"/>
                </a:solidFill>
                <a:latin typeface="Aptos"/>
              </a:rPr>
              <a:t>IBM UNIVERSITY ENGAGEMENT PROJECT</a:t>
            </a:r>
          </a:p>
        </p:txBody>
      </p:sp>
      <p:sp>
        <p:nvSpPr>
          <p:cNvPr id="5" name="TextBox 4"/>
          <p:cNvSpPr txBox="1"/>
          <p:nvPr/>
        </p:nvSpPr>
        <p:spPr>
          <a:xfrm>
            <a:off x="731520" y="1828800"/>
            <a:ext cx="10789920" cy="1371600"/>
          </a:xfrm>
          <a:prstGeom prst="rect">
            <a:avLst/>
          </a:prstGeom>
          <a:noFill/>
        </p:spPr>
        <p:txBody>
          <a:bodyPr wrap="square">
            <a:spAutoFit/>
          </a:bodyPr>
          <a:lstStyle/>
          <a:p>
            <a:r>
              <a:rPr sz="3800" b="1">
                <a:solidFill>
                  <a:srgbClr val="F8FAFC"/>
                </a:solidFill>
                <a:latin typeface="Aptos"/>
              </a:rPr>
              <a:t>Course Content
Simplification Agent</a:t>
            </a:r>
          </a:p>
        </p:txBody>
      </p:sp>
      <p:sp>
        <p:nvSpPr>
          <p:cNvPr id="6" name="TextBox 5"/>
          <p:cNvSpPr txBox="1"/>
          <p:nvPr/>
        </p:nvSpPr>
        <p:spPr>
          <a:xfrm>
            <a:off x="749808" y="3429000"/>
            <a:ext cx="8961120" cy="640080"/>
          </a:xfrm>
          <a:prstGeom prst="rect">
            <a:avLst/>
          </a:prstGeom>
          <a:noFill/>
        </p:spPr>
        <p:txBody>
          <a:bodyPr wrap="square">
            <a:spAutoFit/>
          </a:bodyPr>
          <a:lstStyle/>
          <a:p>
            <a:r>
              <a:rPr sz="2000" b="0">
                <a:solidFill>
                  <a:srgbClr val="B4BED2"/>
                </a:solidFill>
                <a:latin typeface="Aptos"/>
              </a:rPr>
              <a:t>AI-powered learner-adaptive educational assistance</a:t>
            </a:r>
          </a:p>
        </p:txBody>
      </p:sp>
      <p:sp>
        <p:nvSpPr>
          <p:cNvPr id="7" name="TextBox 6"/>
          <p:cNvSpPr txBox="1"/>
          <p:nvPr/>
        </p:nvSpPr>
        <p:spPr>
          <a:xfrm>
            <a:off x="749808" y="4800600"/>
            <a:ext cx="5029200" cy="457200"/>
          </a:xfrm>
          <a:prstGeom prst="rect">
            <a:avLst/>
          </a:prstGeom>
          <a:noFill/>
        </p:spPr>
        <p:txBody>
          <a:bodyPr wrap="square">
            <a:spAutoFit/>
          </a:bodyPr>
          <a:lstStyle/>
          <a:p>
            <a:r>
              <a:rPr sz="1400" b="0">
                <a:solidFill>
                  <a:srgbClr val="F8FAFC"/>
                </a:solidFill>
                <a:latin typeface="Aptos"/>
              </a:rPr>
              <a:t>Problem Statement #19  •  Domain: Education</a:t>
            </a:r>
          </a:p>
        </p:txBody>
      </p:sp>
      <p:sp>
        <p:nvSpPr>
          <p:cNvPr id="8" name="TextBox 7"/>
          <p:cNvSpPr txBox="1"/>
          <p:nvPr/>
        </p:nvSpPr>
        <p:spPr>
          <a:xfrm>
            <a:off x="749808" y="5806440"/>
            <a:ext cx="4114800" cy="365760"/>
          </a:xfrm>
          <a:prstGeom prst="rect">
            <a:avLst/>
          </a:prstGeom>
          <a:noFill/>
        </p:spPr>
        <p:txBody>
          <a:bodyPr wrap="square">
            <a:spAutoFit/>
          </a:bodyPr>
          <a:lstStyle/>
          <a:p>
            <a:r>
              <a:rPr sz="1400" b="1">
                <a:solidFill>
                  <a:srgbClr val="22D3EE"/>
                </a:solidFill>
                <a:latin typeface="Aptos"/>
              </a:rPr>
              <a:t>TANNEDI ANIL KUMAR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972800" cy="594360"/>
          </a:xfrm>
          <a:prstGeom prst="rect">
            <a:avLst/>
          </a:prstGeom>
          <a:noFill/>
        </p:spPr>
        <p:txBody>
          <a:bodyPr wrap="square">
            <a:spAutoFit/>
          </a:bodyPr>
          <a:lstStyle/>
          <a:p>
            <a:r>
              <a:rPr sz="2800" b="1">
                <a:solidFill>
                  <a:srgbClr val="F8FAFC"/>
                </a:solidFill>
                <a:latin typeface="Aptos"/>
              </a:rPr>
              <a:t>Problem Statement</a:t>
            </a:r>
          </a:p>
        </p:txBody>
      </p:sp>
      <p:sp>
        <p:nvSpPr>
          <p:cNvPr id="5" name="TextBox 4"/>
          <p:cNvSpPr txBox="1"/>
          <p:nvPr/>
        </p:nvSpPr>
        <p:spPr>
          <a:xfrm>
            <a:off x="658368" y="987552"/>
            <a:ext cx="10789920" cy="457200"/>
          </a:xfrm>
          <a:prstGeom prst="rect">
            <a:avLst/>
          </a:prstGeom>
          <a:noFill/>
        </p:spPr>
        <p:txBody>
          <a:bodyPr wrap="square">
            <a:spAutoFit/>
          </a:bodyPr>
          <a:lstStyle/>
          <a:p>
            <a:r>
              <a:rPr sz="1300" b="0">
                <a:solidFill>
                  <a:srgbClr val="B4BED2"/>
                </a:solidFill>
                <a:latin typeface="Aptos"/>
              </a:rPr>
              <a:t>Why students need adaptive explanations</a:t>
            </a:r>
          </a:p>
        </p:txBody>
      </p:sp>
      <p:sp>
        <p:nvSpPr>
          <p:cNvPr id="6" name="Rounded Rectangle 5"/>
          <p:cNvSpPr/>
          <p:nvPr/>
        </p:nvSpPr>
        <p:spPr>
          <a:xfrm>
            <a:off x="685800" y="1554480"/>
            <a:ext cx="5303520" cy="420624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554480"/>
            <a:ext cx="64008" cy="420624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19072"/>
            <a:ext cx="4892040" cy="320040"/>
          </a:xfrm>
          <a:prstGeom prst="rect">
            <a:avLst/>
          </a:prstGeom>
          <a:noFill/>
        </p:spPr>
        <p:txBody>
          <a:bodyPr wrap="square">
            <a:spAutoFit/>
          </a:bodyPr>
          <a:lstStyle/>
          <a:p>
            <a:r>
              <a:rPr sz="1600" b="1">
                <a:solidFill>
                  <a:srgbClr val="F8FAFC"/>
                </a:solidFill>
                <a:latin typeface="Aptos"/>
              </a:rPr>
              <a:t>The Challenge</a:t>
            </a:r>
          </a:p>
        </p:txBody>
      </p:sp>
      <p:sp>
        <p:nvSpPr>
          <p:cNvPr id="9" name="TextBox 8"/>
          <p:cNvSpPr txBox="1"/>
          <p:nvPr/>
        </p:nvSpPr>
        <p:spPr>
          <a:xfrm>
            <a:off x="914400" y="2121408"/>
            <a:ext cx="4892040" cy="3520439"/>
          </a:xfrm>
          <a:prstGeom prst="rect">
            <a:avLst/>
          </a:prstGeom>
          <a:noFill/>
        </p:spPr>
        <p:txBody>
          <a:bodyPr wrap="square">
            <a:spAutoFit/>
          </a:bodyPr>
          <a:lstStyle/>
          <a:p>
            <a:r>
              <a:rPr sz="1250" b="0">
                <a:solidFill>
                  <a:srgbClr val="B4BED2"/>
                </a:solidFill>
                <a:latin typeface="Aptos"/>
              </a:rPr>
              <a:t>Educational materials often use advanced terminology and assume prior knowledge. Students at different proficiency levels need different depths of explanation.
A single generic summary cannot effectively serve a beginner, an intermediate learner, and an advanced learner.</a:t>
            </a:r>
          </a:p>
        </p:txBody>
      </p:sp>
      <p:sp>
        <p:nvSpPr>
          <p:cNvPr id="10" name="Rounded Rectangle 9"/>
          <p:cNvSpPr/>
          <p:nvPr/>
        </p:nvSpPr>
        <p:spPr>
          <a:xfrm>
            <a:off x="6217920" y="1554480"/>
            <a:ext cx="5303520" cy="420624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554480"/>
            <a:ext cx="64008" cy="420624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719072"/>
            <a:ext cx="4892040" cy="320040"/>
          </a:xfrm>
          <a:prstGeom prst="rect">
            <a:avLst/>
          </a:prstGeom>
          <a:noFill/>
        </p:spPr>
        <p:txBody>
          <a:bodyPr wrap="square">
            <a:spAutoFit/>
          </a:bodyPr>
          <a:lstStyle/>
          <a:p>
            <a:r>
              <a:rPr sz="1600" b="1">
                <a:solidFill>
                  <a:srgbClr val="F8FAFC"/>
                </a:solidFill>
                <a:latin typeface="Aptos"/>
              </a:rPr>
              <a:t>The Objective</a:t>
            </a:r>
          </a:p>
        </p:txBody>
      </p:sp>
      <p:sp>
        <p:nvSpPr>
          <p:cNvPr id="13" name="TextBox 12"/>
          <p:cNvSpPr txBox="1"/>
          <p:nvPr/>
        </p:nvSpPr>
        <p:spPr>
          <a:xfrm>
            <a:off x="6446520" y="2121408"/>
            <a:ext cx="4892040" cy="3520439"/>
          </a:xfrm>
          <a:prstGeom prst="rect">
            <a:avLst/>
          </a:prstGeom>
          <a:noFill/>
        </p:spPr>
        <p:txBody>
          <a:bodyPr wrap="square">
            <a:spAutoFit/>
          </a:bodyPr>
          <a:lstStyle/>
          <a:p>
            <a:r>
              <a:rPr sz="1250" b="0">
                <a:solidFill>
                  <a:srgbClr val="B4BED2"/>
                </a:solidFill>
                <a:latin typeface="Aptos"/>
              </a:rPr>
              <a:t>Build an AI-powered agent that analyzes course content and reframes explanations according to the learner's proficiency—from beginner to expert.
The system should make complex academic concepts easier to understand while preserving the core meaning.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972800" cy="594360"/>
          </a:xfrm>
          <a:prstGeom prst="rect">
            <a:avLst/>
          </a:prstGeom>
          <a:noFill/>
        </p:spPr>
        <p:txBody>
          <a:bodyPr wrap="square">
            <a:spAutoFit/>
          </a:bodyPr>
          <a:lstStyle/>
          <a:p>
            <a:r>
              <a:rPr sz="2800" b="1">
                <a:solidFill>
                  <a:srgbClr val="F8FAFC"/>
                </a:solidFill>
                <a:latin typeface="Aptos"/>
              </a:rPr>
              <a:t>Proposed Solution</a:t>
            </a:r>
          </a:p>
        </p:txBody>
      </p:sp>
      <p:sp>
        <p:nvSpPr>
          <p:cNvPr id="5" name="TextBox 4"/>
          <p:cNvSpPr txBox="1"/>
          <p:nvPr/>
        </p:nvSpPr>
        <p:spPr>
          <a:xfrm>
            <a:off x="658368" y="987552"/>
            <a:ext cx="10789920" cy="457200"/>
          </a:xfrm>
          <a:prstGeom prst="rect">
            <a:avLst/>
          </a:prstGeom>
          <a:noFill/>
        </p:spPr>
        <p:txBody>
          <a:bodyPr wrap="square">
            <a:spAutoFit/>
          </a:bodyPr>
          <a:lstStyle/>
          <a:p>
            <a:r>
              <a:rPr sz="1300" b="0">
                <a:solidFill>
                  <a:srgbClr val="B4BED2"/>
                </a:solidFill>
                <a:latin typeface="Aptos"/>
              </a:rPr>
              <a:t>From raw course material to personalized learning</a:t>
            </a:r>
          </a:p>
        </p:txBody>
      </p:sp>
      <p:sp>
        <p:nvSpPr>
          <p:cNvPr id="6" name="Rounded Rectangle 5"/>
          <p:cNvSpPr/>
          <p:nvPr/>
        </p:nvSpPr>
        <p:spPr>
          <a:xfrm>
            <a:off x="685800" y="1508760"/>
            <a:ext cx="2743200" cy="429768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508760"/>
            <a:ext cx="64008" cy="429768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73351"/>
            <a:ext cx="2331720" cy="320040"/>
          </a:xfrm>
          <a:prstGeom prst="rect">
            <a:avLst/>
          </a:prstGeom>
          <a:noFill/>
        </p:spPr>
        <p:txBody>
          <a:bodyPr wrap="square">
            <a:spAutoFit/>
          </a:bodyPr>
          <a:lstStyle/>
          <a:p>
            <a:r>
              <a:rPr sz="1600" b="1">
                <a:solidFill>
                  <a:srgbClr val="F8FAFC"/>
                </a:solidFill>
                <a:latin typeface="Aptos"/>
              </a:rPr>
              <a:t>1  Input</a:t>
            </a:r>
          </a:p>
        </p:txBody>
      </p:sp>
      <p:sp>
        <p:nvSpPr>
          <p:cNvPr id="9" name="TextBox 8"/>
          <p:cNvSpPr txBox="1"/>
          <p:nvPr/>
        </p:nvSpPr>
        <p:spPr>
          <a:xfrm>
            <a:off x="914400" y="2075688"/>
            <a:ext cx="2331720" cy="3611880"/>
          </a:xfrm>
          <a:prstGeom prst="rect">
            <a:avLst/>
          </a:prstGeom>
          <a:noFill/>
        </p:spPr>
        <p:txBody>
          <a:bodyPr wrap="square">
            <a:spAutoFit/>
          </a:bodyPr>
          <a:lstStyle/>
          <a:p>
            <a:r>
              <a:rPr sz="1250" b="0">
                <a:solidFill>
                  <a:srgbClr val="B4BED2"/>
                </a:solidFill>
                <a:latin typeface="Aptos"/>
              </a:rPr>
              <a:t>Students paste course content or upload a PDF.
The system extracts and validates the educational content before processing.</a:t>
            </a:r>
          </a:p>
        </p:txBody>
      </p:sp>
      <p:sp>
        <p:nvSpPr>
          <p:cNvPr id="10" name="Rounded Rectangle 9"/>
          <p:cNvSpPr/>
          <p:nvPr/>
        </p:nvSpPr>
        <p:spPr>
          <a:xfrm>
            <a:off x="3611880" y="1508760"/>
            <a:ext cx="2743200" cy="429768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508760"/>
            <a:ext cx="64008" cy="429768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0" y="1673351"/>
            <a:ext cx="2331720" cy="320040"/>
          </a:xfrm>
          <a:prstGeom prst="rect">
            <a:avLst/>
          </a:prstGeom>
          <a:noFill/>
        </p:spPr>
        <p:txBody>
          <a:bodyPr wrap="square">
            <a:spAutoFit/>
          </a:bodyPr>
          <a:lstStyle/>
          <a:p>
            <a:r>
              <a:rPr sz="1600" b="1">
                <a:solidFill>
                  <a:srgbClr val="F8FAFC"/>
                </a:solidFill>
                <a:latin typeface="Aptos"/>
              </a:rPr>
              <a:t>2  Understand</a:t>
            </a:r>
          </a:p>
        </p:txBody>
      </p:sp>
      <p:sp>
        <p:nvSpPr>
          <p:cNvPr id="13" name="TextBox 12"/>
          <p:cNvSpPr txBox="1"/>
          <p:nvPr/>
        </p:nvSpPr>
        <p:spPr>
          <a:xfrm>
            <a:off x="3840480" y="2075688"/>
            <a:ext cx="2331720" cy="3611880"/>
          </a:xfrm>
          <a:prstGeom prst="rect">
            <a:avLst/>
          </a:prstGeom>
          <a:noFill/>
        </p:spPr>
        <p:txBody>
          <a:bodyPr wrap="square">
            <a:spAutoFit/>
          </a:bodyPr>
          <a:lstStyle/>
          <a:p>
            <a:r>
              <a:rPr sz="1250" b="0">
                <a:solidFill>
                  <a:srgbClr val="B4BED2"/>
                </a:solidFill>
                <a:latin typeface="Aptos"/>
              </a:rPr>
              <a:t>The agent identifies the main academic concept and supporting ideas, keeping the explanation focused on the learning material.</a:t>
            </a:r>
          </a:p>
        </p:txBody>
      </p:sp>
      <p:sp>
        <p:nvSpPr>
          <p:cNvPr id="14" name="Rounded Rectangle 13"/>
          <p:cNvSpPr/>
          <p:nvPr/>
        </p:nvSpPr>
        <p:spPr>
          <a:xfrm>
            <a:off x="6537960" y="1508760"/>
            <a:ext cx="2743200" cy="429768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37960" y="1508760"/>
            <a:ext cx="64008" cy="42976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1673351"/>
            <a:ext cx="2331720" cy="320040"/>
          </a:xfrm>
          <a:prstGeom prst="rect">
            <a:avLst/>
          </a:prstGeom>
          <a:noFill/>
        </p:spPr>
        <p:txBody>
          <a:bodyPr wrap="square">
            <a:spAutoFit/>
          </a:bodyPr>
          <a:lstStyle/>
          <a:p>
            <a:r>
              <a:rPr sz="1600" b="1">
                <a:solidFill>
                  <a:srgbClr val="F8FAFC"/>
                </a:solidFill>
                <a:latin typeface="Aptos"/>
              </a:rPr>
              <a:t>3  Adapt</a:t>
            </a:r>
          </a:p>
        </p:txBody>
      </p:sp>
      <p:sp>
        <p:nvSpPr>
          <p:cNvPr id="17" name="TextBox 16"/>
          <p:cNvSpPr txBox="1"/>
          <p:nvPr/>
        </p:nvSpPr>
        <p:spPr>
          <a:xfrm>
            <a:off x="6766560" y="2075688"/>
            <a:ext cx="2331720" cy="3611880"/>
          </a:xfrm>
          <a:prstGeom prst="rect">
            <a:avLst/>
          </a:prstGeom>
          <a:noFill/>
        </p:spPr>
        <p:txBody>
          <a:bodyPr wrap="square">
            <a:spAutoFit/>
          </a:bodyPr>
          <a:lstStyle/>
          <a:p>
            <a:r>
              <a:rPr sz="1250" b="0">
                <a:solidFill>
                  <a:srgbClr val="B4BED2"/>
                </a:solidFill>
                <a:latin typeface="Aptos"/>
              </a:rPr>
              <a:t>The selected proficiency level controls vocabulary, technical depth, explanation style, and examples.</a:t>
            </a:r>
          </a:p>
        </p:txBody>
      </p:sp>
      <p:sp>
        <p:nvSpPr>
          <p:cNvPr id="18" name="Rounded Rectangle 17"/>
          <p:cNvSpPr/>
          <p:nvPr/>
        </p:nvSpPr>
        <p:spPr>
          <a:xfrm>
            <a:off x="9464040" y="1508760"/>
            <a:ext cx="2011680" cy="429768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64040" y="1508760"/>
            <a:ext cx="64008" cy="429768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0" y="1673351"/>
            <a:ext cx="1600200" cy="320040"/>
          </a:xfrm>
          <a:prstGeom prst="rect">
            <a:avLst/>
          </a:prstGeom>
          <a:noFill/>
        </p:spPr>
        <p:txBody>
          <a:bodyPr wrap="square">
            <a:spAutoFit/>
          </a:bodyPr>
          <a:lstStyle/>
          <a:p>
            <a:r>
              <a:rPr sz="1600" b="1">
                <a:solidFill>
                  <a:srgbClr val="F8FAFC"/>
                </a:solidFill>
                <a:latin typeface="Aptos"/>
              </a:rPr>
              <a:t>4  Generate</a:t>
            </a:r>
          </a:p>
        </p:txBody>
      </p:sp>
      <p:sp>
        <p:nvSpPr>
          <p:cNvPr id="21" name="TextBox 20"/>
          <p:cNvSpPr txBox="1"/>
          <p:nvPr/>
        </p:nvSpPr>
        <p:spPr>
          <a:xfrm>
            <a:off x="9692640" y="2075688"/>
            <a:ext cx="1600200" cy="3611880"/>
          </a:xfrm>
          <a:prstGeom prst="rect">
            <a:avLst/>
          </a:prstGeom>
          <a:noFill/>
        </p:spPr>
        <p:txBody>
          <a:bodyPr wrap="square">
            <a:spAutoFit/>
          </a:bodyPr>
          <a:lstStyle/>
          <a:p>
            <a:r>
              <a:rPr sz="1250" b="0">
                <a:solidFill>
                  <a:srgbClr val="B4BED2"/>
                </a:solidFill>
                <a:latin typeface="Aptos"/>
              </a:rPr>
              <a:t>Explanation
Key Concepts
Analogy
Questions
Revision
MCQs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972800" cy="594360"/>
          </a:xfrm>
          <a:prstGeom prst="rect">
            <a:avLst/>
          </a:prstGeom>
          <a:noFill/>
        </p:spPr>
        <p:txBody>
          <a:bodyPr wrap="square">
            <a:spAutoFit/>
          </a:bodyPr>
          <a:lstStyle/>
          <a:p>
            <a:r>
              <a:rPr sz="2800" b="1">
                <a:solidFill>
                  <a:srgbClr val="F8FAFC"/>
                </a:solidFill>
                <a:latin typeface="Aptos"/>
              </a:rPr>
              <a:t>System Architecture</a:t>
            </a:r>
          </a:p>
        </p:txBody>
      </p:sp>
      <p:sp>
        <p:nvSpPr>
          <p:cNvPr id="5" name="TextBox 4"/>
          <p:cNvSpPr txBox="1"/>
          <p:nvPr/>
        </p:nvSpPr>
        <p:spPr>
          <a:xfrm>
            <a:off x="658368" y="987552"/>
            <a:ext cx="10789920" cy="457200"/>
          </a:xfrm>
          <a:prstGeom prst="rect">
            <a:avLst/>
          </a:prstGeom>
          <a:noFill/>
        </p:spPr>
        <p:txBody>
          <a:bodyPr wrap="square">
            <a:spAutoFit/>
          </a:bodyPr>
          <a:lstStyle/>
          <a:p>
            <a:r>
              <a:rPr sz="1300" b="0">
                <a:solidFill>
                  <a:srgbClr val="B4BED2"/>
                </a:solidFill>
                <a:latin typeface="Aptos"/>
              </a:rPr>
              <a:t>End-to-end workflow</a:t>
            </a:r>
          </a:p>
        </p:txBody>
      </p:sp>
      <p:sp>
        <p:nvSpPr>
          <p:cNvPr id="6" name="Rounded Rectangle 5"/>
          <p:cNvSpPr/>
          <p:nvPr/>
        </p:nvSpPr>
        <p:spPr>
          <a:xfrm>
            <a:off x="411480" y="1965960"/>
            <a:ext cx="1737360" cy="22860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965960"/>
            <a:ext cx="64008" cy="228600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30552"/>
            <a:ext cx="1325880" cy="320040"/>
          </a:xfrm>
          <a:prstGeom prst="rect">
            <a:avLst/>
          </a:prstGeom>
          <a:noFill/>
        </p:spPr>
        <p:txBody>
          <a:bodyPr wrap="square">
            <a:spAutoFit/>
          </a:bodyPr>
          <a:lstStyle/>
          <a:p>
            <a:r>
              <a:rPr sz="1600" b="1">
                <a:solidFill>
                  <a:srgbClr val="F8FAFC"/>
                </a:solidFill>
                <a:latin typeface="Aptos"/>
              </a:rPr>
              <a:t>Student</a:t>
            </a:r>
          </a:p>
        </p:txBody>
      </p:sp>
      <p:sp>
        <p:nvSpPr>
          <p:cNvPr id="9" name="TextBox 8"/>
          <p:cNvSpPr txBox="1"/>
          <p:nvPr/>
        </p:nvSpPr>
        <p:spPr>
          <a:xfrm>
            <a:off x="640080" y="2532888"/>
            <a:ext cx="1325880" cy="1600200"/>
          </a:xfrm>
          <a:prstGeom prst="rect">
            <a:avLst/>
          </a:prstGeom>
          <a:noFill/>
        </p:spPr>
        <p:txBody>
          <a:bodyPr wrap="square">
            <a:spAutoFit/>
          </a:bodyPr>
          <a:lstStyle/>
          <a:p>
            <a:r>
              <a:rPr sz="1250" b="0">
                <a:solidFill>
                  <a:srgbClr val="B4BED2"/>
                </a:solidFill>
                <a:latin typeface="Aptos"/>
              </a:rPr>
              <a:t>Course content
+ learning level</a:t>
            </a:r>
          </a:p>
        </p:txBody>
      </p:sp>
      <p:sp>
        <p:nvSpPr>
          <p:cNvPr id="10" name="TextBox 9"/>
          <p:cNvSpPr txBox="1"/>
          <p:nvPr/>
        </p:nvSpPr>
        <p:spPr>
          <a:xfrm>
            <a:off x="2167128" y="2743200"/>
            <a:ext cx="320040" cy="320040"/>
          </a:xfrm>
          <a:prstGeom prst="rect">
            <a:avLst/>
          </a:prstGeom>
          <a:noFill/>
        </p:spPr>
        <p:txBody>
          <a:bodyPr wrap="square">
            <a:spAutoFit/>
          </a:bodyPr>
          <a:lstStyle/>
          <a:p>
            <a:pPr algn="ctr"/>
            <a:r>
              <a:rPr sz="2200" b="1">
                <a:solidFill>
                  <a:srgbClr val="22D3EE"/>
                </a:solidFill>
                <a:latin typeface="Aptos"/>
              </a:rPr>
              <a:t>→</a:t>
            </a:r>
          </a:p>
        </p:txBody>
      </p:sp>
      <p:sp>
        <p:nvSpPr>
          <p:cNvPr id="11" name="Rounded Rectangle 10"/>
          <p:cNvSpPr/>
          <p:nvPr/>
        </p:nvSpPr>
        <p:spPr>
          <a:xfrm>
            <a:off x="2350008" y="1965960"/>
            <a:ext cx="1737360" cy="22860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50008" y="1965960"/>
            <a:ext cx="64008" cy="2286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8608" y="2130552"/>
            <a:ext cx="1325880" cy="320040"/>
          </a:xfrm>
          <a:prstGeom prst="rect">
            <a:avLst/>
          </a:prstGeom>
          <a:noFill/>
        </p:spPr>
        <p:txBody>
          <a:bodyPr wrap="square">
            <a:spAutoFit/>
          </a:bodyPr>
          <a:lstStyle/>
          <a:p>
            <a:r>
              <a:rPr sz="1600" b="1">
                <a:solidFill>
                  <a:srgbClr val="F8FAFC"/>
                </a:solidFill>
                <a:latin typeface="Aptos"/>
              </a:rPr>
              <a:t>Frontend</a:t>
            </a:r>
          </a:p>
        </p:txBody>
      </p:sp>
      <p:sp>
        <p:nvSpPr>
          <p:cNvPr id="14" name="TextBox 13"/>
          <p:cNvSpPr txBox="1"/>
          <p:nvPr/>
        </p:nvSpPr>
        <p:spPr>
          <a:xfrm>
            <a:off x="2578608" y="2532888"/>
            <a:ext cx="1325880" cy="1600200"/>
          </a:xfrm>
          <a:prstGeom prst="rect">
            <a:avLst/>
          </a:prstGeom>
          <a:noFill/>
        </p:spPr>
        <p:txBody>
          <a:bodyPr wrap="square">
            <a:spAutoFit/>
          </a:bodyPr>
          <a:lstStyle/>
          <a:p>
            <a:r>
              <a:rPr sz="1250" b="0">
                <a:solidFill>
                  <a:srgbClr val="B4BED2"/>
                </a:solidFill>
                <a:latin typeface="Aptos"/>
              </a:rPr>
              <a:t>HTML / CSS /
JavaScript</a:t>
            </a:r>
          </a:p>
        </p:txBody>
      </p:sp>
      <p:sp>
        <p:nvSpPr>
          <p:cNvPr id="15" name="TextBox 14"/>
          <p:cNvSpPr txBox="1"/>
          <p:nvPr/>
        </p:nvSpPr>
        <p:spPr>
          <a:xfrm>
            <a:off x="4105656" y="2743200"/>
            <a:ext cx="320040" cy="320040"/>
          </a:xfrm>
          <a:prstGeom prst="rect">
            <a:avLst/>
          </a:prstGeom>
          <a:noFill/>
        </p:spPr>
        <p:txBody>
          <a:bodyPr wrap="square">
            <a:spAutoFit/>
          </a:bodyPr>
          <a:lstStyle/>
          <a:p>
            <a:pPr algn="ctr"/>
            <a:r>
              <a:rPr sz="2200" b="1">
                <a:solidFill>
                  <a:srgbClr val="22D3EE"/>
                </a:solidFill>
                <a:latin typeface="Aptos"/>
              </a:rPr>
              <a:t>→</a:t>
            </a:r>
          </a:p>
        </p:txBody>
      </p:sp>
      <p:sp>
        <p:nvSpPr>
          <p:cNvPr id="16" name="Rounded Rectangle 15"/>
          <p:cNvSpPr/>
          <p:nvPr/>
        </p:nvSpPr>
        <p:spPr>
          <a:xfrm>
            <a:off x="4288536" y="1965960"/>
            <a:ext cx="1737360" cy="22860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88536" y="1965960"/>
            <a:ext cx="64008" cy="228600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17136" y="2130552"/>
            <a:ext cx="1325880" cy="320040"/>
          </a:xfrm>
          <a:prstGeom prst="rect">
            <a:avLst/>
          </a:prstGeom>
          <a:noFill/>
        </p:spPr>
        <p:txBody>
          <a:bodyPr wrap="square">
            <a:spAutoFit/>
          </a:bodyPr>
          <a:lstStyle/>
          <a:p>
            <a:r>
              <a:rPr sz="1600" b="1">
                <a:solidFill>
                  <a:srgbClr val="F8FAFC"/>
                </a:solidFill>
                <a:latin typeface="Aptos"/>
              </a:rPr>
              <a:t>Flask API</a:t>
            </a:r>
          </a:p>
        </p:txBody>
      </p:sp>
      <p:sp>
        <p:nvSpPr>
          <p:cNvPr id="19" name="TextBox 18"/>
          <p:cNvSpPr txBox="1"/>
          <p:nvPr/>
        </p:nvSpPr>
        <p:spPr>
          <a:xfrm>
            <a:off x="4517136" y="2532888"/>
            <a:ext cx="1325880" cy="1600200"/>
          </a:xfrm>
          <a:prstGeom prst="rect">
            <a:avLst/>
          </a:prstGeom>
          <a:noFill/>
        </p:spPr>
        <p:txBody>
          <a:bodyPr wrap="square">
            <a:spAutoFit/>
          </a:bodyPr>
          <a:lstStyle/>
          <a:p>
            <a:r>
              <a:rPr sz="1250" b="0">
                <a:solidFill>
                  <a:srgbClr val="B4BED2"/>
                </a:solidFill>
                <a:latin typeface="Aptos"/>
              </a:rPr>
              <a:t>Validation +
request handling</a:t>
            </a:r>
          </a:p>
        </p:txBody>
      </p:sp>
      <p:sp>
        <p:nvSpPr>
          <p:cNvPr id="20" name="TextBox 19"/>
          <p:cNvSpPr txBox="1"/>
          <p:nvPr/>
        </p:nvSpPr>
        <p:spPr>
          <a:xfrm>
            <a:off x="6044184" y="2743200"/>
            <a:ext cx="320040" cy="320040"/>
          </a:xfrm>
          <a:prstGeom prst="rect">
            <a:avLst/>
          </a:prstGeom>
          <a:noFill/>
        </p:spPr>
        <p:txBody>
          <a:bodyPr wrap="square">
            <a:spAutoFit/>
          </a:bodyPr>
          <a:lstStyle/>
          <a:p>
            <a:pPr algn="ctr"/>
            <a:r>
              <a:rPr sz="2200" b="1">
                <a:solidFill>
                  <a:srgbClr val="22D3EE"/>
                </a:solidFill>
                <a:latin typeface="Aptos"/>
              </a:rPr>
              <a:t>→</a:t>
            </a:r>
          </a:p>
        </p:txBody>
      </p:sp>
      <p:sp>
        <p:nvSpPr>
          <p:cNvPr id="21" name="Rounded Rectangle 20"/>
          <p:cNvSpPr/>
          <p:nvPr/>
        </p:nvSpPr>
        <p:spPr>
          <a:xfrm>
            <a:off x="6227064" y="1965960"/>
            <a:ext cx="1737360" cy="22860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27064" y="1965960"/>
            <a:ext cx="64008" cy="22860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2130552"/>
            <a:ext cx="1325880" cy="320040"/>
          </a:xfrm>
          <a:prstGeom prst="rect">
            <a:avLst/>
          </a:prstGeom>
          <a:noFill/>
        </p:spPr>
        <p:txBody>
          <a:bodyPr wrap="square">
            <a:spAutoFit/>
          </a:bodyPr>
          <a:lstStyle/>
          <a:p>
            <a:r>
              <a:rPr sz="1600" b="1">
                <a:solidFill>
                  <a:srgbClr val="F8FAFC"/>
                </a:solidFill>
                <a:latin typeface="Aptos"/>
              </a:rPr>
              <a:t>Agent</a:t>
            </a:r>
          </a:p>
        </p:txBody>
      </p:sp>
      <p:sp>
        <p:nvSpPr>
          <p:cNvPr id="24" name="TextBox 23"/>
          <p:cNvSpPr txBox="1"/>
          <p:nvPr/>
        </p:nvSpPr>
        <p:spPr>
          <a:xfrm>
            <a:off x="6455664" y="2532888"/>
            <a:ext cx="1325880" cy="1600200"/>
          </a:xfrm>
          <a:prstGeom prst="rect">
            <a:avLst/>
          </a:prstGeom>
          <a:noFill/>
        </p:spPr>
        <p:txBody>
          <a:bodyPr wrap="square">
            <a:spAutoFit/>
          </a:bodyPr>
          <a:lstStyle/>
          <a:p>
            <a:r>
              <a:rPr sz="1250" b="0">
                <a:solidFill>
                  <a:srgbClr val="B4BED2"/>
                </a:solidFill>
                <a:latin typeface="Aptos"/>
              </a:rPr>
              <a:t>Concept focus +
level adaptation</a:t>
            </a:r>
          </a:p>
        </p:txBody>
      </p:sp>
      <p:sp>
        <p:nvSpPr>
          <p:cNvPr id="25" name="TextBox 24"/>
          <p:cNvSpPr txBox="1"/>
          <p:nvPr/>
        </p:nvSpPr>
        <p:spPr>
          <a:xfrm>
            <a:off x="7982712" y="2743200"/>
            <a:ext cx="320040" cy="320040"/>
          </a:xfrm>
          <a:prstGeom prst="rect">
            <a:avLst/>
          </a:prstGeom>
          <a:noFill/>
        </p:spPr>
        <p:txBody>
          <a:bodyPr wrap="square">
            <a:spAutoFit/>
          </a:bodyPr>
          <a:lstStyle/>
          <a:p>
            <a:pPr algn="ctr"/>
            <a:r>
              <a:rPr sz="2200" b="1">
                <a:solidFill>
                  <a:srgbClr val="22D3EE"/>
                </a:solidFill>
                <a:latin typeface="Aptos"/>
              </a:rPr>
              <a:t>→</a:t>
            </a:r>
          </a:p>
        </p:txBody>
      </p:sp>
      <p:sp>
        <p:nvSpPr>
          <p:cNvPr id="26" name="Rounded Rectangle 25"/>
          <p:cNvSpPr/>
          <p:nvPr/>
        </p:nvSpPr>
        <p:spPr>
          <a:xfrm>
            <a:off x="8165592" y="1965960"/>
            <a:ext cx="1737360" cy="22860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65592" y="1965960"/>
            <a:ext cx="64008" cy="2286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94192" y="2130552"/>
            <a:ext cx="1325880" cy="320040"/>
          </a:xfrm>
          <a:prstGeom prst="rect">
            <a:avLst/>
          </a:prstGeom>
          <a:noFill/>
        </p:spPr>
        <p:txBody>
          <a:bodyPr wrap="square">
            <a:spAutoFit/>
          </a:bodyPr>
          <a:lstStyle/>
          <a:p>
            <a:r>
              <a:rPr sz="1600" b="1">
                <a:solidFill>
                  <a:srgbClr val="F8FAFC"/>
                </a:solidFill>
                <a:latin typeface="Aptos"/>
              </a:rPr>
              <a:t>watsonx.ai</a:t>
            </a:r>
          </a:p>
        </p:txBody>
      </p:sp>
      <p:sp>
        <p:nvSpPr>
          <p:cNvPr id="29" name="TextBox 28"/>
          <p:cNvSpPr txBox="1"/>
          <p:nvPr/>
        </p:nvSpPr>
        <p:spPr>
          <a:xfrm>
            <a:off x="8394192" y="2532888"/>
            <a:ext cx="1325880" cy="1600200"/>
          </a:xfrm>
          <a:prstGeom prst="rect">
            <a:avLst/>
          </a:prstGeom>
          <a:noFill/>
        </p:spPr>
        <p:txBody>
          <a:bodyPr wrap="square">
            <a:spAutoFit/>
          </a:bodyPr>
          <a:lstStyle/>
          <a:p>
            <a:r>
              <a:rPr sz="1250" b="0">
                <a:solidFill>
                  <a:srgbClr val="B4BED2"/>
                </a:solidFill>
                <a:latin typeface="Aptos"/>
              </a:rPr>
              <a:t>AI model
inference</a:t>
            </a:r>
          </a:p>
        </p:txBody>
      </p:sp>
      <p:sp>
        <p:nvSpPr>
          <p:cNvPr id="30" name="TextBox 29"/>
          <p:cNvSpPr txBox="1"/>
          <p:nvPr/>
        </p:nvSpPr>
        <p:spPr>
          <a:xfrm>
            <a:off x="9921240" y="2743200"/>
            <a:ext cx="320040" cy="320040"/>
          </a:xfrm>
          <a:prstGeom prst="rect">
            <a:avLst/>
          </a:prstGeom>
          <a:noFill/>
        </p:spPr>
        <p:txBody>
          <a:bodyPr wrap="square">
            <a:spAutoFit/>
          </a:bodyPr>
          <a:lstStyle/>
          <a:p>
            <a:pPr algn="ctr"/>
            <a:r>
              <a:rPr sz="2200" b="1">
                <a:solidFill>
                  <a:srgbClr val="22D3EE"/>
                </a:solidFill>
                <a:latin typeface="Aptos"/>
              </a:rPr>
              <a:t>→</a:t>
            </a:r>
          </a:p>
        </p:txBody>
      </p:sp>
      <p:sp>
        <p:nvSpPr>
          <p:cNvPr id="31" name="Rounded Rectangle 30"/>
          <p:cNvSpPr/>
          <p:nvPr/>
        </p:nvSpPr>
        <p:spPr>
          <a:xfrm>
            <a:off x="10104120" y="1965960"/>
            <a:ext cx="1737360" cy="22860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04120" y="1965960"/>
            <a:ext cx="64008" cy="228600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0" y="2130552"/>
            <a:ext cx="1325880" cy="320040"/>
          </a:xfrm>
          <a:prstGeom prst="rect">
            <a:avLst/>
          </a:prstGeom>
          <a:noFill/>
        </p:spPr>
        <p:txBody>
          <a:bodyPr wrap="square">
            <a:spAutoFit/>
          </a:bodyPr>
          <a:lstStyle/>
          <a:p>
            <a:r>
              <a:rPr sz="1600" b="1">
                <a:solidFill>
                  <a:srgbClr val="F8FAFC"/>
                </a:solidFill>
                <a:latin typeface="Aptos"/>
              </a:rPr>
              <a:t>Output</a:t>
            </a:r>
          </a:p>
        </p:txBody>
      </p:sp>
      <p:sp>
        <p:nvSpPr>
          <p:cNvPr id="34" name="TextBox 33"/>
          <p:cNvSpPr txBox="1"/>
          <p:nvPr/>
        </p:nvSpPr>
        <p:spPr>
          <a:xfrm>
            <a:off x="10332720" y="2532888"/>
            <a:ext cx="1325880" cy="1600200"/>
          </a:xfrm>
          <a:prstGeom prst="rect">
            <a:avLst/>
          </a:prstGeom>
          <a:noFill/>
        </p:spPr>
        <p:txBody>
          <a:bodyPr wrap="square">
            <a:spAutoFit/>
          </a:bodyPr>
          <a:lstStyle/>
          <a:p>
            <a:r>
              <a:rPr sz="1250" b="0">
                <a:solidFill>
                  <a:srgbClr val="B4BED2"/>
                </a:solidFill>
                <a:latin typeface="Aptos"/>
              </a:rPr>
              <a:t>Explanation +
study material</a:t>
            </a:r>
          </a:p>
        </p:txBody>
      </p:sp>
      <p:sp>
        <p:nvSpPr>
          <p:cNvPr id="35" name="TextBox 34"/>
          <p:cNvSpPr txBox="1"/>
          <p:nvPr/>
        </p:nvSpPr>
        <p:spPr>
          <a:xfrm>
            <a:off x="685800" y="4892040"/>
            <a:ext cx="10789920" cy="731520"/>
          </a:xfrm>
          <a:prstGeom prst="rect">
            <a:avLst/>
          </a:prstGeom>
          <a:noFill/>
        </p:spPr>
        <p:txBody>
          <a:bodyPr wrap="square">
            <a:spAutoFit/>
          </a:bodyPr>
          <a:lstStyle/>
          <a:p>
            <a:pPr algn="ctr"/>
            <a:r>
              <a:rPr sz="1600" b="1">
                <a:solidFill>
                  <a:srgbClr val="B4BED2"/>
                </a:solidFill>
                <a:latin typeface="Aptos"/>
              </a:rPr>
              <a:t>PDF input → pypdf extraction → backend processing → AI generation → structured educational response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972800" cy="594360"/>
          </a:xfrm>
          <a:prstGeom prst="rect">
            <a:avLst/>
          </a:prstGeom>
          <a:noFill/>
        </p:spPr>
        <p:txBody>
          <a:bodyPr wrap="square">
            <a:spAutoFit/>
          </a:bodyPr>
          <a:lstStyle/>
          <a:p>
            <a:r>
              <a:rPr sz="2800" b="1">
                <a:solidFill>
                  <a:srgbClr val="F8FAFC"/>
                </a:solidFill>
                <a:latin typeface="Aptos"/>
              </a:rPr>
              <a:t>Adaptive Learning Levels</a:t>
            </a:r>
          </a:p>
        </p:txBody>
      </p:sp>
      <p:sp>
        <p:nvSpPr>
          <p:cNvPr id="5" name="TextBox 4"/>
          <p:cNvSpPr txBox="1"/>
          <p:nvPr/>
        </p:nvSpPr>
        <p:spPr>
          <a:xfrm>
            <a:off x="658368" y="987552"/>
            <a:ext cx="10789920" cy="457200"/>
          </a:xfrm>
          <a:prstGeom prst="rect">
            <a:avLst/>
          </a:prstGeom>
          <a:noFill/>
        </p:spPr>
        <p:txBody>
          <a:bodyPr wrap="square">
            <a:spAutoFit/>
          </a:bodyPr>
          <a:lstStyle/>
          <a:p>
            <a:r>
              <a:rPr sz="1300" b="0">
                <a:solidFill>
                  <a:srgbClr val="B4BED2"/>
                </a:solidFill>
                <a:latin typeface="Aptos"/>
              </a:rPr>
              <a:t>The same concept is explained differently for different learners</a:t>
            </a:r>
          </a:p>
        </p:txBody>
      </p:sp>
      <p:sp>
        <p:nvSpPr>
          <p:cNvPr id="6" name="Rounded Rectangle 5"/>
          <p:cNvSpPr/>
          <p:nvPr/>
        </p:nvSpPr>
        <p:spPr>
          <a:xfrm>
            <a:off x="685800" y="1645920"/>
            <a:ext cx="3474720" cy="4114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645920"/>
            <a:ext cx="64008" cy="41148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3063239" cy="320040"/>
          </a:xfrm>
          <a:prstGeom prst="rect">
            <a:avLst/>
          </a:prstGeom>
          <a:noFill/>
        </p:spPr>
        <p:txBody>
          <a:bodyPr wrap="square">
            <a:spAutoFit/>
          </a:bodyPr>
          <a:lstStyle/>
          <a:p>
            <a:r>
              <a:rPr sz="1600" b="1">
                <a:solidFill>
                  <a:srgbClr val="F8FAFC"/>
                </a:solidFill>
                <a:latin typeface="Aptos"/>
              </a:rPr>
              <a:t>BEGINNER</a:t>
            </a:r>
          </a:p>
        </p:txBody>
      </p:sp>
      <p:sp>
        <p:nvSpPr>
          <p:cNvPr id="9" name="TextBox 8"/>
          <p:cNvSpPr txBox="1"/>
          <p:nvPr/>
        </p:nvSpPr>
        <p:spPr>
          <a:xfrm>
            <a:off x="914400" y="2212848"/>
            <a:ext cx="3063239" cy="3429000"/>
          </a:xfrm>
          <a:prstGeom prst="rect">
            <a:avLst/>
          </a:prstGeom>
          <a:noFill/>
        </p:spPr>
        <p:txBody>
          <a:bodyPr wrap="square">
            <a:spAutoFit/>
          </a:bodyPr>
          <a:lstStyle/>
          <a:p>
            <a:r>
              <a:rPr sz="1250" b="0">
                <a:solidFill>
                  <a:srgbClr val="B4BED2"/>
                </a:solidFill>
                <a:latin typeface="Aptos"/>
              </a:rPr>
              <a:t>• Simple vocabulary
• Step-by-step explanation
• Everyday analogy
• Minimal technical jargon
Goal: build intuition and basic understanding.</a:t>
            </a:r>
          </a:p>
        </p:txBody>
      </p:sp>
      <p:sp>
        <p:nvSpPr>
          <p:cNvPr id="10" name="Rounded Rectangle 9"/>
          <p:cNvSpPr/>
          <p:nvPr/>
        </p:nvSpPr>
        <p:spPr>
          <a:xfrm>
            <a:off x="4370832" y="1645920"/>
            <a:ext cx="3474720" cy="4114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0832" y="1645920"/>
            <a:ext cx="64008" cy="4114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1810512"/>
            <a:ext cx="3063239" cy="320040"/>
          </a:xfrm>
          <a:prstGeom prst="rect">
            <a:avLst/>
          </a:prstGeom>
          <a:noFill/>
        </p:spPr>
        <p:txBody>
          <a:bodyPr wrap="square">
            <a:spAutoFit/>
          </a:bodyPr>
          <a:lstStyle/>
          <a:p>
            <a:r>
              <a:rPr sz="1600" b="1">
                <a:solidFill>
                  <a:srgbClr val="F8FAFC"/>
                </a:solidFill>
                <a:latin typeface="Aptos"/>
              </a:rPr>
              <a:t>INTERMEDIATE</a:t>
            </a:r>
          </a:p>
        </p:txBody>
      </p:sp>
      <p:sp>
        <p:nvSpPr>
          <p:cNvPr id="13" name="TextBox 12"/>
          <p:cNvSpPr txBox="1"/>
          <p:nvPr/>
        </p:nvSpPr>
        <p:spPr>
          <a:xfrm>
            <a:off x="4599432" y="2212848"/>
            <a:ext cx="3063239" cy="3429000"/>
          </a:xfrm>
          <a:prstGeom prst="rect">
            <a:avLst/>
          </a:prstGeom>
          <a:noFill/>
        </p:spPr>
        <p:txBody>
          <a:bodyPr wrap="square">
            <a:spAutoFit/>
          </a:bodyPr>
          <a:lstStyle/>
          <a:p>
            <a:r>
              <a:rPr sz="1250" b="0">
                <a:solidFill>
                  <a:srgbClr val="B4BED2"/>
                </a:solidFill>
                <a:latin typeface="Aptos"/>
              </a:rPr>
              <a:t>• Moderate technical terminology
• Concept relationships
• Relevant complexity details
• Clear examples
Goal: strengthen conceptual and technical understanding.</a:t>
            </a:r>
          </a:p>
        </p:txBody>
      </p:sp>
      <p:sp>
        <p:nvSpPr>
          <p:cNvPr id="14" name="Rounded Rectangle 13"/>
          <p:cNvSpPr/>
          <p:nvPr/>
        </p:nvSpPr>
        <p:spPr>
          <a:xfrm>
            <a:off x="8046720" y="1645920"/>
            <a:ext cx="3474720" cy="4114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645920"/>
            <a:ext cx="64008" cy="411480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810512"/>
            <a:ext cx="3063239" cy="320040"/>
          </a:xfrm>
          <a:prstGeom prst="rect">
            <a:avLst/>
          </a:prstGeom>
          <a:noFill/>
        </p:spPr>
        <p:txBody>
          <a:bodyPr wrap="square">
            <a:spAutoFit/>
          </a:bodyPr>
          <a:lstStyle/>
          <a:p>
            <a:r>
              <a:rPr sz="1600" b="1">
                <a:solidFill>
                  <a:srgbClr val="F8FAFC"/>
                </a:solidFill>
                <a:latin typeface="Aptos"/>
              </a:rPr>
              <a:t>ADVANCED</a:t>
            </a:r>
          </a:p>
        </p:txBody>
      </p:sp>
      <p:sp>
        <p:nvSpPr>
          <p:cNvPr id="17" name="TextBox 16"/>
          <p:cNvSpPr txBox="1"/>
          <p:nvPr/>
        </p:nvSpPr>
        <p:spPr>
          <a:xfrm>
            <a:off x="8275320" y="2212848"/>
            <a:ext cx="3063239" cy="3429000"/>
          </a:xfrm>
          <a:prstGeom prst="rect">
            <a:avLst/>
          </a:prstGeom>
          <a:noFill/>
        </p:spPr>
        <p:txBody>
          <a:bodyPr wrap="square">
            <a:spAutoFit/>
          </a:bodyPr>
          <a:lstStyle/>
          <a:p>
            <a:r>
              <a:rPr sz="1250" b="0">
                <a:solidFill>
                  <a:srgbClr val="B4BED2"/>
                </a:solidFill>
                <a:latin typeface="Aptos"/>
              </a:rPr>
              <a:t>• Deeper technical reasoning
• Detailed mechanisms
• Complexity and trade-offs
• Implementation-level insight
Goal: develop expert-level understanding.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972800" cy="594360"/>
          </a:xfrm>
          <a:prstGeom prst="rect">
            <a:avLst/>
          </a:prstGeom>
          <a:noFill/>
        </p:spPr>
        <p:txBody>
          <a:bodyPr wrap="square">
            <a:spAutoFit/>
          </a:bodyPr>
          <a:lstStyle/>
          <a:p>
            <a:r>
              <a:rPr sz="2800" b="1">
                <a:solidFill>
                  <a:srgbClr val="F8FAFC"/>
                </a:solidFill>
                <a:latin typeface="Aptos"/>
              </a:rPr>
              <a:t>Key Features</a:t>
            </a:r>
          </a:p>
        </p:txBody>
      </p:sp>
      <p:sp>
        <p:nvSpPr>
          <p:cNvPr id="5" name="TextBox 4"/>
          <p:cNvSpPr txBox="1"/>
          <p:nvPr/>
        </p:nvSpPr>
        <p:spPr>
          <a:xfrm>
            <a:off x="658368" y="987552"/>
            <a:ext cx="10789920" cy="457200"/>
          </a:xfrm>
          <a:prstGeom prst="rect">
            <a:avLst/>
          </a:prstGeom>
          <a:noFill/>
        </p:spPr>
        <p:txBody>
          <a:bodyPr wrap="square">
            <a:spAutoFit/>
          </a:bodyPr>
          <a:lstStyle/>
          <a:p>
            <a:r>
              <a:rPr sz="1300" b="0">
                <a:solidFill>
                  <a:srgbClr val="B4BED2"/>
                </a:solidFill>
                <a:latin typeface="Aptos"/>
              </a:rPr>
              <a:t>Designed around the student's actual learning workflow</a:t>
            </a:r>
          </a:p>
        </p:txBody>
      </p:sp>
      <p:sp>
        <p:nvSpPr>
          <p:cNvPr id="6" name="Rounded Rectangle 5"/>
          <p:cNvSpPr/>
          <p:nvPr/>
        </p:nvSpPr>
        <p:spPr>
          <a:xfrm>
            <a:off x="685800" y="1417320"/>
            <a:ext cx="5303520" cy="1828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64008" cy="182880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81912"/>
            <a:ext cx="4892040" cy="320040"/>
          </a:xfrm>
          <a:prstGeom prst="rect">
            <a:avLst/>
          </a:prstGeom>
          <a:noFill/>
        </p:spPr>
        <p:txBody>
          <a:bodyPr wrap="square">
            <a:spAutoFit/>
          </a:bodyPr>
          <a:lstStyle/>
          <a:p>
            <a:r>
              <a:rPr sz="1600" b="1">
                <a:solidFill>
                  <a:srgbClr val="F8FAFC"/>
                </a:solidFill>
                <a:latin typeface="Aptos"/>
              </a:rPr>
              <a:t>PDF + Text Input</a:t>
            </a:r>
          </a:p>
        </p:txBody>
      </p:sp>
      <p:sp>
        <p:nvSpPr>
          <p:cNvPr id="9" name="TextBox 8"/>
          <p:cNvSpPr txBox="1"/>
          <p:nvPr/>
        </p:nvSpPr>
        <p:spPr>
          <a:xfrm>
            <a:off x="914400" y="1984248"/>
            <a:ext cx="4892040" cy="1143000"/>
          </a:xfrm>
          <a:prstGeom prst="rect">
            <a:avLst/>
          </a:prstGeom>
          <a:noFill/>
        </p:spPr>
        <p:txBody>
          <a:bodyPr wrap="square">
            <a:spAutoFit/>
          </a:bodyPr>
          <a:lstStyle/>
          <a:p>
            <a:r>
              <a:rPr sz="1250" b="0">
                <a:solidFill>
                  <a:srgbClr val="B4BED2"/>
                </a:solidFill>
                <a:latin typeface="Aptos"/>
              </a:rPr>
              <a:t>Upload course PDFs or paste content directly. PDF text is extracted before AI processing.</a:t>
            </a:r>
          </a:p>
        </p:txBody>
      </p:sp>
      <p:sp>
        <p:nvSpPr>
          <p:cNvPr id="10" name="Rounded Rectangle 9"/>
          <p:cNvSpPr/>
          <p:nvPr/>
        </p:nvSpPr>
        <p:spPr>
          <a:xfrm>
            <a:off x="6217920" y="1417320"/>
            <a:ext cx="5303520" cy="1828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417320"/>
            <a:ext cx="64008" cy="1828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581912"/>
            <a:ext cx="4892040" cy="320040"/>
          </a:xfrm>
          <a:prstGeom prst="rect">
            <a:avLst/>
          </a:prstGeom>
          <a:noFill/>
        </p:spPr>
        <p:txBody>
          <a:bodyPr wrap="square">
            <a:spAutoFit/>
          </a:bodyPr>
          <a:lstStyle/>
          <a:p>
            <a:r>
              <a:rPr sz="1600" b="1">
                <a:solidFill>
                  <a:srgbClr val="F8FAFC"/>
                </a:solidFill>
                <a:latin typeface="Aptos"/>
              </a:rPr>
              <a:t>Core Concept Focus</a:t>
            </a:r>
          </a:p>
        </p:txBody>
      </p:sp>
      <p:sp>
        <p:nvSpPr>
          <p:cNvPr id="13" name="TextBox 12"/>
          <p:cNvSpPr txBox="1"/>
          <p:nvPr/>
        </p:nvSpPr>
        <p:spPr>
          <a:xfrm>
            <a:off x="6446520" y="1984248"/>
            <a:ext cx="4892040" cy="1143000"/>
          </a:xfrm>
          <a:prstGeom prst="rect">
            <a:avLst/>
          </a:prstGeom>
          <a:noFill/>
        </p:spPr>
        <p:txBody>
          <a:bodyPr wrap="square">
            <a:spAutoFit/>
          </a:bodyPr>
          <a:lstStyle/>
          <a:p>
            <a:r>
              <a:rPr sz="1250" b="0">
                <a:solidFill>
                  <a:srgbClr val="B4BED2"/>
                </a:solidFill>
                <a:latin typeface="Aptos"/>
              </a:rPr>
              <a:t>The agent identifies the main academic concept instead of blindly summarizing every detail.</a:t>
            </a:r>
          </a:p>
        </p:txBody>
      </p:sp>
      <p:sp>
        <p:nvSpPr>
          <p:cNvPr id="14" name="Rounded Rectangle 13"/>
          <p:cNvSpPr/>
          <p:nvPr/>
        </p:nvSpPr>
        <p:spPr>
          <a:xfrm>
            <a:off x="685800" y="3520440"/>
            <a:ext cx="5303520" cy="1828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520440"/>
            <a:ext cx="64008" cy="18288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685032"/>
            <a:ext cx="4892040" cy="320040"/>
          </a:xfrm>
          <a:prstGeom prst="rect">
            <a:avLst/>
          </a:prstGeom>
          <a:noFill/>
        </p:spPr>
        <p:txBody>
          <a:bodyPr wrap="square">
            <a:spAutoFit/>
          </a:bodyPr>
          <a:lstStyle/>
          <a:p>
            <a:r>
              <a:rPr sz="1600" b="1">
                <a:solidFill>
                  <a:srgbClr val="F8FAFC"/>
                </a:solidFill>
                <a:latin typeface="Aptos"/>
              </a:rPr>
              <a:t>Structured Explanation</a:t>
            </a:r>
          </a:p>
        </p:txBody>
      </p:sp>
      <p:sp>
        <p:nvSpPr>
          <p:cNvPr id="17" name="TextBox 16"/>
          <p:cNvSpPr txBox="1"/>
          <p:nvPr/>
        </p:nvSpPr>
        <p:spPr>
          <a:xfrm>
            <a:off x="914400" y="4087368"/>
            <a:ext cx="4892040" cy="1143000"/>
          </a:xfrm>
          <a:prstGeom prst="rect">
            <a:avLst/>
          </a:prstGeom>
          <a:noFill/>
        </p:spPr>
        <p:txBody>
          <a:bodyPr wrap="square">
            <a:spAutoFit/>
          </a:bodyPr>
          <a:lstStyle/>
          <a:p>
            <a:r>
              <a:rPr sz="1250" b="0">
                <a:solidFill>
                  <a:srgbClr val="B4BED2"/>
                </a:solidFill>
                <a:latin typeface="Aptos"/>
              </a:rPr>
              <a:t>Generates a simplified explanation, key concepts, and a relatable analogy.</a:t>
            </a:r>
          </a:p>
        </p:txBody>
      </p:sp>
      <p:sp>
        <p:nvSpPr>
          <p:cNvPr id="18" name="Rounded Rectangle 17"/>
          <p:cNvSpPr/>
          <p:nvPr/>
        </p:nvSpPr>
        <p:spPr>
          <a:xfrm>
            <a:off x="6217920" y="3520440"/>
            <a:ext cx="5303520" cy="1828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520440"/>
            <a:ext cx="64008" cy="182880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685032"/>
            <a:ext cx="4892040" cy="320040"/>
          </a:xfrm>
          <a:prstGeom prst="rect">
            <a:avLst/>
          </a:prstGeom>
          <a:noFill/>
        </p:spPr>
        <p:txBody>
          <a:bodyPr wrap="square">
            <a:spAutoFit/>
          </a:bodyPr>
          <a:lstStyle/>
          <a:p>
            <a:r>
              <a:rPr sz="1600" b="1">
                <a:solidFill>
                  <a:srgbClr val="F8FAFC"/>
                </a:solidFill>
                <a:latin typeface="Aptos"/>
              </a:rPr>
              <a:t>Study Material</a:t>
            </a:r>
          </a:p>
        </p:txBody>
      </p:sp>
      <p:sp>
        <p:nvSpPr>
          <p:cNvPr id="21" name="TextBox 20"/>
          <p:cNvSpPr txBox="1"/>
          <p:nvPr/>
        </p:nvSpPr>
        <p:spPr>
          <a:xfrm>
            <a:off x="6446520" y="4087368"/>
            <a:ext cx="4892040" cy="1143000"/>
          </a:xfrm>
          <a:prstGeom prst="rect">
            <a:avLst/>
          </a:prstGeom>
          <a:noFill/>
        </p:spPr>
        <p:txBody>
          <a:bodyPr wrap="square">
            <a:spAutoFit/>
          </a:bodyPr>
          <a:lstStyle/>
          <a:p>
            <a:r>
              <a:rPr sz="1250" b="0">
                <a:solidFill>
                  <a:srgbClr val="B4BED2"/>
                </a:solidFill>
                <a:latin typeface="Aptos"/>
              </a:rPr>
              <a:t>Creates important questions with answers, quick revision points, and MCQs.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972800" cy="594360"/>
          </a:xfrm>
          <a:prstGeom prst="rect">
            <a:avLst/>
          </a:prstGeom>
          <a:noFill/>
        </p:spPr>
        <p:txBody>
          <a:bodyPr wrap="square">
            <a:spAutoFit/>
          </a:bodyPr>
          <a:lstStyle/>
          <a:p>
            <a:r>
              <a:rPr sz="2800" b="1">
                <a:solidFill>
                  <a:srgbClr val="F8FAFC"/>
                </a:solidFill>
                <a:latin typeface="Aptos"/>
              </a:rPr>
              <a:t>Role of Agentic AI</a:t>
            </a:r>
          </a:p>
        </p:txBody>
      </p:sp>
      <p:sp>
        <p:nvSpPr>
          <p:cNvPr id="5" name="TextBox 4"/>
          <p:cNvSpPr txBox="1"/>
          <p:nvPr/>
        </p:nvSpPr>
        <p:spPr>
          <a:xfrm>
            <a:off x="658368" y="987552"/>
            <a:ext cx="10789920" cy="457200"/>
          </a:xfrm>
          <a:prstGeom prst="rect">
            <a:avLst/>
          </a:prstGeom>
          <a:noFill/>
        </p:spPr>
        <p:txBody>
          <a:bodyPr wrap="square">
            <a:spAutoFit/>
          </a:bodyPr>
          <a:lstStyle/>
          <a:p>
            <a:r>
              <a:rPr sz="1300" b="0">
                <a:solidFill>
                  <a:srgbClr val="B4BED2"/>
                </a:solidFill>
                <a:latin typeface="Aptos"/>
              </a:rPr>
              <a:t>Why this is more than a basic summarizer</a:t>
            </a:r>
          </a:p>
        </p:txBody>
      </p:sp>
      <p:sp>
        <p:nvSpPr>
          <p:cNvPr id="6" name="TextBox 5"/>
          <p:cNvSpPr txBox="1"/>
          <p:nvPr/>
        </p:nvSpPr>
        <p:spPr>
          <a:xfrm>
            <a:off x="822960" y="1554480"/>
            <a:ext cx="5212080" cy="4389120"/>
          </a:xfrm>
          <a:prstGeom prst="rect">
            <a:avLst/>
          </a:prstGeom>
          <a:noFill/>
        </p:spPr>
        <p:txBody>
          <a:bodyPr wrap="square">
            <a:spAutoFit/>
          </a:bodyPr>
          <a:lstStyle/>
          <a:p>
            <a:r>
              <a:rPr sz="1500" b="0">
                <a:solidFill>
                  <a:srgbClr val="F8FAFC"/>
                </a:solidFill>
                <a:latin typeface="Aptos"/>
              </a:rPr>
              <a:t>• Context awareness — uses course content, subject area, and learner level.
• Goal-oriented generation — produces learning material targeted to the selected level.
• Task decomposition — separates concept understanding, explanation, and study-material generation.
• Adaptive reasoning — changes technical depth across three proficiency levels.
• Structured output — consistently returns sections useful for learning and revision.
• Autonomous generation — creates the requested educational material from supplied content.</a:t>
            </a:r>
          </a:p>
        </p:txBody>
      </p:sp>
      <p:sp>
        <p:nvSpPr>
          <p:cNvPr id="7" name="Rounded Rectangle 6"/>
          <p:cNvSpPr/>
          <p:nvPr/>
        </p:nvSpPr>
        <p:spPr>
          <a:xfrm>
            <a:off x="6400800" y="1645920"/>
            <a:ext cx="4754880" cy="384048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0" y="1645920"/>
            <a:ext cx="64008" cy="384048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1810512"/>
            <a:ext cx="4343400" cy="320040"/>
          </a:xfrm>
          <a:prstGeom prst="rect">
            <a:avLst/>
          </a:prstGeom>
          <a:noFill/>
        </p:spPr>
        <p:txBody>
          <a:bodyPr wrap="square">
            <a:spAutoFit/>
          </a:bodyPr>
          <a:lstStyle/>
          <a:p>
            <a:r>
              <a:rPr sz="1600" b="1">
                <a:solidFill>
                  <a:srgbClr val="F8FAFC"/>
                </a:solidFill>
                <a:latin typeface="Aptos"/>
              </a:rPr>
              <a:t>Digital Teaching Assistant</a:t>
            </a:r>
          </a:p>
        </p:txBody>
      </p:sp>
      <p:sp>
        <p:nvSpPr>
          <p:cNvPr id="10" name="TextBox 9"/>
          <p:cNvSpPr txBox="1"/>
          <p:nvPr/>
        </p:nvSpPr>
        <p:spPr>
          <a:xfrm>
            <a:off x="6629400" y="2212848"/>
            <a:ext cx="4343400" cy="3154680"/>
          </a:xfrm>
          <a:prstGeom prst="rect">
            <a:avLst/>
          </a:prstGeom>
          <a:noFill/>
        </p:spPr>
        <p:txBody>
          <a:bodyPr wrap="square">
            <a:spAutoFit/>
          </a:bodyPr>
          <a:lstStyle/>
          <a:p>
            <a:r>
              <a:rPr sz="1250" b="0">
                <a:solidFill>
                  <a:srgbClr val="B4BED2"/>
                </a:solidFill>
                <a:latin typeface="Aptos"/>
              </a:rPr>
              <a:t>The agent transforms raw academic material into personalized learning content.
It is designed to help a student understand → revise → practice, all from the same source material.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972800" cy="594360"/>
          </a:xfrm>
          <a:prstGeom prst="rect">
            <a:avLst/>
          </a:prstGeom>
          <a:noFill/>
        </p:spPr>
        <p:txBody>
          <a:bodyPr wrap="square">
            <a:spAutoFit/>
          </a:bodyPr>
          <a:lstStyle/>
          <a:p>
            <a:r>
              <a:rPr sz="2800" b="1">
                <a:solidFill>
                  <a:srgbClr val="F8FAFC"/>
                </a:solidFill>
                <a:latin typeface="Aptos"/>
              </a:rPr>
              <a:t>Technology Stack</a:t>
            </a:r>
          </a:p>
        </p:txBody>
      </p:sp>
      <p:sp>
        <p:nvSpPr>
          <p:cNvPr id="5" name="TextBox 4"/>
          <p:cNvSpPr txBox="1"/>
          <p:nvPr/>
        </p:nvSpPr>
        <p:spPr>
          <a:xfrm>
            <a:off x="658368" y="987552"/>
            <a:ext cx="10789920" cy="457200"/>
          </a:xfrm>
          <a:prstGeom prst="rect">
            <a:avLst/>
          </a:prstGeom>
          <a:noFill/>
        </p:spPr>
        <p:txBody>
          <a:bodyPr wrap="square">
            <a:spAutoFit/>
          </a:bodyPr>
          <a:lstStyle/>
          <a:p>
            <a:r>
              <a:rPr sz="1300" b="0">
                <a:solidFill>
                  <a:srgbClr val="B4BED2"/>
                </a:solidFill>
                <a:latin typeface="Aptos"/>
              </a:rPr>
              <a:t>Technologies used in the implementation</a:t>
            </a:r>
          </a:p>
        </p:txBody>
      </p:sp>
      <p:sp>
        <p:nvSpPr>
          <p:cNvPr id="6" name="Rounded Rectangle 5"/>
          <p:cNvSpPr/>
          <p:nvPr/>
        </p:nvSpPr>
        <p:spPr>
          <a:xfrm>
            <a:off x="685800" y="1508760"/>
            <a:ext cx="3337560" cy="169164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508760"/>
            <a:ext cx="64008" cy="169164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73351"/>
            <a:ext cx="2926079" cy="320040"/>
          </a:xfrm>
          <a:prstGeom prst="rect">
            <a:avLst/>
          </a:prstGeom>
          <a:noFill/>
        </p:spPr>
        <p:txBody>
          <a:bodyPr wrap="square">
            <a:spAutoFit/>
          </a:bodyPr>
          <a:lstStyle/>
          <a:p>
            <a:r>
              <a:rPr sz="1600" b="1">
                <a:solidFill>
                  <a:srgbClr val="F8FAFC"/>
                </a:solidFill>
                <a:latin typeface="Aptos"/>
              </a:rPr>
              <a:t>IBM watsonx.ai</a:t>
            </a:r>
          </a:p>
        </p:txBody>
      </p:sp>
      <p:sp>
        <p:nvSpPr>
          <p:cNvPr id="9" name="TextBox 8"/>
          <p:cNvSpPr txBox="1"/>
          <p:nvPr/>
        </p:nvSpPr>
        <p:spPr>
          <a:xfrm>
            <a:off x="914400" y="2075688"/>
            <a:ext cx="2926079" cy="1005840"/>
          </a:xfrm>
          <a:prstGeom prst="rect">
            <a:avLst/>
          </a:prstGeom>
          <a:noFill/>
        </p:spPr>
        <p:txBody>
          <a:bodyPr wrap="square">
            <a:spAutoFit/>
          </a:bodyPr>
          <a:lstStyle/>
          <a:p>
            <a:r>
              <a:rPr sz="1250" b="0">
                <a:solidFill>
                  <a:srgbClr val="B4BED2"/>
                </a:solidFill>
                <a:latin typeface="Aptos"/>
              </a:rPr>
              <a:t>AI model inference</a:t>
            </a:r>
          </a:p>
        </p:txBody>
      </p:sp>
      <p:sp>
        <p:nvSpPr>
          <p:cNvPr id="10" name="Rounded Rectangle 9"/>
          <p:cNvSpPr/>
          <p:nvPr/>
        </p:nvSpPr>
        <p:spPr>
          <a:xfrm>
            <a:off x="4480560" y="1508760"/>
            <a:ext cx="3337560" cy="169164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1508760"/>
            <a:ext cx="64008" cy="169164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1673351"/>
            <a:ext cx="2926079" cy="320040"/>
          </a:xfrm>
          <a:prstGeom prst="rect">
            <a:avLst/>
          </a:prstGeom>
          <a:noFill/>
        </p:spPr>
        <p:txBody>
          <a:bodyPr wrap="square">
            <a:spAutoFit/>
          </a:bodyPr>
          <a:lstStyle/>
          <a:p>
            <a:r>
              <a:rPr sz="1600" b="1">
                <a:solidFill>
                  <a:srgbClr val="F8FAFC"/>
                </a:solidFill>
                <a:latin typeface="Aptos"/>
              </a:rPr>
              <a:t>IBM Bob</a:t>
            </a:r>
          </a:p>
        </p:txBody>
      </p:sp>
      <p:sp>
        <p:nvSpPr>
          <p:cNvPr id="13" name="TextBox 12"/>
          <p:cNvSpPr txBox="1"/>
          <p:nvPr/>
        </p:nvSpPr>
        <p:spPr>
          <a:xfrm>
            <a:off x="4709160" y="2075688"/>
            <a:ext cx="2926079" cy="1005840"/>
          </a:xfrm>
          <a:prstGeom prst="rect">
            <a:avLst/>
          </a:prstGeom>
          <a:noFill/>
        </p:spPr>
        <p:txBody>
          <a:bodyPr wrap="square">
            <a:spAutoFit/>
          </a:bodyPr>
          <a:lstStyle/>
          <a:p>
            <a:r>
              <a:rPr sz="1250" b="0">
                <a:solidFill>
                  <a:srgbClr val="B4BED2"/>
                </a:solidFill>
                <a:latin typeface="Aptos"/>
              </a:rPr>
              <a:t>Agent development / workflow</a:t>
            </a:r>
          </a:p>
        </p:txBody>
      </p:sp>
      <p:sp>
        <p:nvSpPr>
          <p:cNvPr id="14" name="Rounded Rectangle 13"/>
          <p:cNvSpPr/>
          <p:nvPr/>
        </p:nvSpPr>
        <p:spPr>
          <a:xfrm>
            <a:off x="8275320" y="1508760"/>
            <a:ext cx="3337560" cy="169164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75320" y="1508760"/>
            <a:ext cx="64008" cy="16916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0" y="1673351"/>
            <a:ext cx="2926079" cy="320040"/>
          </a:xfrm>
          <a:prstGeom prst="rect">
            <a:avLst/>
          </a:prstGeom>
          <a:noFill/>
        </p:spPr>
        <p:txBody>
          <a:bodyPr wrap="square">
            <a:spAutoFit/>
          </a:bodyPr>
          <a:lstStyle/>
          <a:p>
            <a:r>
              <a:rPr sz="1600" b="1">
                <a:solidFill>
                  <a:srgbClr val="F8FAFC"/>
                </a:solidFill>
                <a:latin typeface="Aptos"/>
              </a:rPr>
              <a:t>Mistral Small 3.1</a:t>
            </a:r>
          </a:p>
        </p:txBody>
      </p:sp>
      <p:sp>
        <p:nvSpPr>
          <p:cNvPr id="17" name="TextBox 16"/>
          <p:cNvSpPr txBox="1"/>
          <p:nvPr/>
        </p:nvSpPr>
        <p:spPr>
          <a:xfrm>
            <a:off x="8503920" y="2075688"/>
            <a:ext cx="2926079" cy="1005840"/>
          </a:xfrm>
          <a:prstGeom prst="rect">
            <a:avLst/>
          </a:prstGeom>
          <a:noFill/>
        </p:spPr>
        <p:txBody>
          <a:bodyPr wrap="square">
            <a:spAutoFit/>
          </a:bodyPr>
          <a:lstStyle/>
          <a:p>
            <a:r>
              <a:rPr sz="1250" b="0">
                <a:solidFill>
                  <a:srgbClr val="B4BED2"/>
                </a:solidFill>
                <a:latin typeface="Aptos"/>
              </a:rPr>
              <a:t>Working language model</a:t>
            </a:r>
          </a:p>
        </p:txBody>
      </p:sp>
      <p:sp>
        <p:nvSpPr>
          <p:cNvPr id="18" name="Rounded Rectangle 17"/>
          <p:cNvSpPr/>
          <p:nvPr/>
        </p:nvSpPr>
        <p:spPr>
          <a:xfrm>
            <a:off x="685800" y="3657600"/>
            <a:ext cx="3337560" cy="169164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3657600"/>
            <a:ext cx="64008" cy="169164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822191"/>
            <a:ext cx="2926079" cy="320040"/>
          </a:xfrm>
          <a:prstGeom prst="rect">
            <a:avLst/>
          </a:prstGeom>
          <a:noFill/>
        </p:spPr>
        <p:txBody>
          <a:bodyPr wrap="square">
            <a:spAutoFit/>
          </a:bodyPr>
          <a:lstStyle/>
          <a:p>
            <a:r>
              <a:rPr sz="1600" b="1">
                <a:solidFill>
                  <a:srgbClr val="F8FAFC"/>
                </a:solidFill>
                <a:latin typeface="Aptos"/>
              </a:rPr>
              <a:t>Python + Flask</a:t>
            </a:r>
          </a:p>
        </p:txBody>
      </p:sp>
      <p:sp>
        <p:nvSpPr>
          <p:cNvPr id="21" name="TextBox 20"/>
          <p:cNvSpPr txBox="1"/>
          <p:nvPr/>
        </p:nvSpPr>
        <p:spPr>
          <a:xfrm>
            <a:off x="914400" y="4224528"/>
            <a:ext cx="2926079" cy="1005840"/>
          </a:xfrm>
          <a:prstGeom prst="rect">
            <a:avLst/>
          </a:prstGeom>
          <a:noFill/>
        </p:spPr>
        <p:txBody>
          <a:bodyPr wrap="square">
            <a:spAutoFit/>
          </a:bodyPr>
          <a:lstStyle/>
          <a:p>
            <a:r>
              <a:rPr sz="1250" b="0">
                <a:solidFill>
                  <a:srgbClr val="B4BED2"/>
                </a:solidFill>
                <a:latin typeface="Aptos"/>
              </a:rPr>
              <a:t>Backend + REST APIs</a:t>
            </a:r>
          </a:p>
        </p:txBody>
      </p:sp>
      <p:sp>
        <p:nvSpPr>
          <p:cNvPr id="22" name="Rounded Rectangle 21"/>
          <p:cNvSpPr/>
          <p:nvPr/>
        </p:nvSpPr>
        <p:spPr>
          <a:xfrm>
            <a:off x="4480560" y="3657600"/>
            <a:ext cx="3337560" cy="169164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3657600"/>
            <a:ext cx="64008" cy="169164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9160" y="3822191"/>
            <a:ext cx="2926079" cy="320040"/>
          </a:xfrm>
          <a:prstGeom prst="rect">
            <a:avLst/>
          </a:prstGeom>
          <a:noFill/>
        </p:spPr>
        <p:txBody>
          <a:bodyPr wrap="square">
            <a:spAutoFit/>
          </a:bodyPr>
          <a:lstStyle/>
          <a:p>
            <a:r>
              <a:rPr sz="1600" b="1">
                <a:solidFill>
                  <a:srgbClr val="F8FAFC"/>
                </a:solidFill>
                <a:latin typeface="Aptos"/>
              </a:rPr>
              <a:t>HTML/CSS/JS</a:t>
            </a:r>
          </a:p>
        </p:txBody>
      </p:sp>
      <p:sp>
        <p:nvSpPr>
          <p:cNvPr id="25" name="TextBox 24"/>
          <p:cNvSpPr txBox="1"/>
          <p:nvPr/>
        </p:nvSpPr>
        <p:spPr>
          <a:xfrm>
            <a:off x="4709160" y="4224528"/>
            <a:ext cx="2926079" cy="1005840"/>
          </a:xfrm>
          <a:prstGeom prst="rect">
            <a:avLst/>
          </a:prstGeom>
          <a:noFill/>
        </p:spPr>
        <p:txBody>
          <a:bodyPr wrap="square">
            <a:spAutoFit/>
          </a:bodyPr>
          <a:lstStyle/>
          <a:p>
            <a:r>
              <a:rPr sz="1250" b="0">
                <a:solidFill>
                  <a:srgbClr val="B4BED2"/>
                </a:solidFill>
                <a:latin typeface="Aptos"/>
              </a:rPr>
              <a:t>Interactive frontend</a:t>
            </a:r>
          </a:p>
        </p:txBody>
      </p:sp>
      <p:sp>
        <p:nvSpPr>
          <p:cNvPr id="26" name="Rounded Rectangle 25"/>
          <p:cNvSpPr/>
          <p:nvPr/>
        </p:nvSpPr>
        <p:spPr>
          <a:xfrm>
            <a:off x="8275320" y="3657600"/>
            <a:ext cx="3337560" cy="169164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75320" y="3657600"/>
            <a:ext cx="64008" cy="16916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3822191"/>
            <a:ext cx="2926079" cy="320040"/>
          </a:xfrm>
          <a:prstGeom prst="rect">
            <a:avLst/>
          </a:prstGeom>
          <a:noFill/>
        </p:spPr>
        <p:txBody>
          <a:bodyPr wrap="square">
            <a:spAutoFit/>
          </a:bodyPr>
          <a:lstStyle/>
          <a:p>
            <a:r>
              <a:rPr sz="1600" b="1">
                <a:solidFill>
                  <a:srgbClr val="F8FAFC"/>
                </a:solidFill>
                <a:latin typeface="Aptos"/>
              </a:rPr>
              <a:t>pypdf</a:t>
            </a:r>
          </a:p>
        </p:txBody>
      </p:sp>
      <p:sp>
        <p:nvSpPr>
          <p:cNvPr id="29" name="TextBox 28"/>
          <p:cNvSpPr txBox="1"/>
          <p:nvPr/>
        </p:nvSpPr>
        <p:spPr>
          <a:xfrm>
            <a:off x="8503920" y="4224528"/>
            <a:ext cx="2926079" cy="1005840"/>
          </a:xfrm>
          <a:prstGeom prst="rect">
            <a:avLst/>
          </a:prstGeom>
          <a:noFill/>
        </p:spPr>
        <p:txBody>
          <a:bodyPr wrap="square">
            <a:spAutoFit/>
          </a:bodyPr>
          <a:lstStyle/>
          <a:p>
            <a:r>
              <a:rPr sz="1250" b="0">
                <a:solidFill>
                  <a:srgbClr val="B4BED2"/>
                </a:solidFill>
                <a:latin typeface="Aptos"/>
              </a:rPr>
              <a:t>PDF text extraction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972800" cy="594360"/>
          </a:xfrm>
          <a:prstGeom prst="rect">
            <a:avLst/>
          </a:prstGeom>
          <a:noFill/>
        </p:spPr>
        <p:txBody>
          <a:bodyPr wrap="square">
            <a:spAutoFit/>
          </a:bodyPr>
          <a:lstStyle/>
          <a:p>
            <a:r>
              <a:rPr sz="2800" b="1">
                <a:solidFill>
                  <a:srgbClr val="F8FAFC"/>
                </a:solidFill>
                <a:latin typeface="Aptos"/>
              </a:rPr>
              <a:t>Study Material Generation</a:t>
            </a:r>
          </a:p>
        </p:txBody>
      </p:sp>
      <p:sp>
        <p:nvSpPr>
          <p:cNvPr id="5" name="TextBox 4"/>
          <p:cNvSpPr txBox="1"/>
          <p:nvPr/>
        </p:nvSpPr>
        <p:spPr>
          <a:xfrm>
            <a:off x="658368" y="987552"/>
            <a:ext cx="10789920" cy="457200"/>
          </a:xfrm>
          <a:prstGeom prst="rect">
            <a:avLst/>
          </a:prstGeom>
          <a:noFill/>
        </p:spPr>
        <p:txBody>
          <a:bodyPr wrap="square">
            <a:spAutoFit/>
          </a:bodyPr>
          <a:lstStyle/>
          <a:p>
            <a:r>
              <a:rPr sz="1300" b="0">
                <a:solidFill>
                  <a:srgbClr val="B4BED2"/>
                </a:solidFill>
                <a:latin typeface="Aptos"/>
              </a:rPr>
              <a:t>Turning one explanation into a complete revision package</a:t>
            </a:r>
          </a:p>
        </p:txBody>
      </p:sp>
      <p:sp>
        <p:nvSpPr>
          <p:cNvPr id="6" name="Rounded Rectangle 5"/>
          <p:cNvSpPr/>
          <p:nvPr/>
        </p:nvSpPr>
        <p:spPr>
          <a:xfrm>
            <a:off x="685800" y="1554480"/>
            <a:ext cx="3383280" cy="420624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554480"/>
            <a:ext cx="64008" cy="420624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19072"/>
            <a:ext cx="2971800" cy="320040"/>
          </a:xfrm>
          <a:prstGeom prst="rect">
            <a:avLst/>
          </a:prstGeom>
          <a:noFill/>
        </p:spPr>
        <p:txBody>
          <a:bodyPr wrap="square">
            <a:spAutoFit/>
          </a:bodyPr>
          <a:lstStyle/>
          <a:p>
            <a:r>
              <a:rPr sz="1600" b="1">
                <a:solidFill>
                  <a:srgbClr val="F8FAFC"/>
                </a:solidFill>
                <a:latin typeface="Aptos"/>
              </a:rPr>
              <a:t>Important Questions</a:t>
            </a:r>
          </a:p>
        </p:txBody>
      </p:sp>
      <p:sp>
        <p:nvSpPr>
          <p:cNvPr id="9" name="TextBox 8"/>
          <p:cNvSpPr txBox="1"/>
          <p:nvPr/>
        </p:nvSpPr>
        <p:spPr>
          <a:xfrm>
            <a:off x="914400" y="2121408"/>
            <a:ext cx="2971800" cy="3520439"/>
          </a:xfrm>
          <a:prstGeom prst="rect">
            <a:avLst/>
          </a:prstGeom>
          <a:noFill/>
        </p:spPr>
        <p:txBody>
          <a:bodyPr wrap="square">
            <a:spAutoFit/>
          </a:bodyPr>
          <a:lstStyle/>
          <a:p>
            <a:r>
              <a:rPr sz="1250" b="0">
                <a:solidFill>
                  <a:srgbClr val="B4BED2"/>
                </a:solidFill>
                <a:latin typeface="Aptos"/>
              </a:rPr>
              <a:t>Generates 5 important questions from the supplied course content, each with an answer.</a:t>
            </a:r>
          </a:p>
        </p:txBody>
      </p:sp>
      <p:sp>
        <p:nvSpPr>
          <p:cNvPr id="10" name="Rounded Rectangle 9"/>
          <p:cNvSpPr/>
          <p:nvPr/>
        </p:nvSpPr>
        <p:spPr>
          <a:xfrm>
            <a:off x="4407408" y="1554480"/>
            <a:ext cx="3383280" cy="420624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1554480"/>
            <a:ext cx="64008" cy="420624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6008" y="1719072"/>
            <a:ext cx="2971800" cy="320040"/>
          </a:xfrm>
          <a:prstGeom prst="rect">
            <a:avLst/>
          </a:prstGeom>
          <a:noFill/>
        </p:spPr>
        <p:txBody>
          <a:bodyPr wrap="square">
            <a:spAutoFit/>
          </a:bodyPr>
          <a:lstStyle/>
          <a:p>
            <a:r>
              <a:rPr sz="1600" b="1">
                <a:solidFill>
                  <a:srgbClr val="F8FAFC"/>
                </a:solidFill>
                <a:latin typeface="Aptos"/>
              </a:rPr>
              <a:t>Quick Revision</a:t>
            </a:r>
          </a:p>
        </p:txBody>
      </p:sp>
      <p:sp>
        <p:nvSpPr>
          <p:cNvPr id="13" name="TextBox 12"/>
          <p:cNvSpPr txBox="1"/>
          <p:nvPr/>
        </p:nvSpPr>
        <p:spPr>
          <a:xfrm>
            <a:off x="4636008" y="2121408"/>
            <a:ext cx="2971800" cy="3520439"/>
          </a:xfrm>
          <a:prstGeom prst="rect">
            <a:avLst/>
          </a:prstGeom>
          <a:noFill/>
        </p:spPr>
        <p:txBody>
          <a:bodyPr wrap="square">
            <a:spAutoFit/>
          </a:bodyPr>
          <a:lstStyle/>
          <a:p>
            <a:r>
              <a:rPr sz="1250" b="0">
                <a:solidFill>
                  <a:srgbClr val="B4BED2"/>
                </a:solidFill>
                <a:latin typeface="Aptos"/>
              </a:rPr>
              <a:t>Generates 5 concise revision points that help students review the concept quickly.</a:t>
            </a:r>
          </a:p>
        </p:txBody>
      </p:sp>
      <p:sp>
        <p:nvSpPr>
          <p:cNvPr id="14" name="Rounded Rectangle 13"/>
          <p:cNvSpPr/>
          <p:nvPr/>
        </p:nvSpPr>
        <p:spPr>
          <a:xfrm>
            <a:off x="8138160" y="1554480"/>
            <a:ext cx="3383280" cy="420624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554480"/>
            <a:ext cx="64008" cy="42062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1719072"/>
            <a:ext cx="2971800" cy="320040"/>
          </a:xfrm>
          <a:prstGeom prst="rect">
            <a:avLst/>
          </a:prstGeom>
          <a:noFill/>
        </p:spPr>
        <p:txBody>
          <a:bodyPr wrap="square">
            <a:spAutoFit/>
          </a:bodyPr>
          <a:lstStyle/>
          <a:p>
            <a:r>
              <a:rPr sz="1600" b="1">
                <a:solidFill>
                  <a:srgbClr val="F8FAFC"/>
                </a:solidFill>
                <a:latin typeface="Aptos"/>
              </a:rPr>
              <a:t>MCQs</a:t>
            </a:r>
          </a:p>
        </p:txBody>
      </p:sp>
      <p:sp>
        <p:nvSpPr>
          <p:cNvPr id="17" name="TextBox 16"/>
          <p:cNvSpPr txBox="1"/>
          <p:nvPr/>
        </p:nvSpPr>
        <p:spPr>
          <a:xfrm>
            <a:off x="8366760" y="2121408"/>
            <a:ext cx="2971800" cy="3520439"/>
          </a:xfrm>
          <a:prstGeom prst="rect">
            <a:avLst/>
          </a:prstGeom>
          <a:noFill/>
        </p:spPr>
        <p:txBody>
          <a:bodyPr wrap="square">
            <a:spAutoFit/>
          </a:bodyPr>
          <a:lstStyle/>
          <a:p>
            <a:r>
              <a:rPr sz="1250" b="0">
                <a:solidFill>
                  <a:srgbClr val="B4BED2"/>
                </a:solidFill>
                <a:latin typeface="Aptos"/>
              </a:rPr>
              <a:t>Generates 3 multiple-choice questions with four options and one correct answer.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972800" cy="594360"/>
          </a:xfrm>
          <a:prstGeom prst="rect">
            <a:avLst/>
          </a:prstGeom>
          <a:noFill/>
        </p:spPr>
        <p:txBody>
          <a:bodyPr wrap="square">
            <a:spAutoFit/>
          </a:bodyPr>
          <a:lstStyle/>
          <a:p>
            <a:r>
              <a:rPr sz="2800" b="1">
                <a:solidFill>
                  <a:srgbClr val="F8FAFC"/>
                </a:solidFill>
                <a:latin typeface="Aptos"/>
              </a:rPr>
              <a:t>Project Output</a:t>
            </a:r>
          </a:p>
        </p:txBody>
      </p:sp>
      <p:sp>
        <p:nvSpPr>
          <p:cNvPr id="5" name="TextBox 4"/>
          <p:cNvSpPr txBox="1"/>
          <p:nvPr/>
        </p:nvSpPr>
        <p:spPr>
          <a:xfrm>
            <a:off x="658368" y="987552"/>
            <a:ext cx="10789920" cy="457200"/>
          </a:xfrm>
          <a:prstGeom prst="rect">
            <a:avLst/>
          </a:prstGeom>
          <a:noFill/>
        </p:spPr>
        <p:txBody>
          <a:bodyPr wrap="square">
            <a:spAutoFit/>
          </a:bodyPr>
          <a:lstStyle/>
          <a:p>
            <a:r>
              <a:rPr sz="1300" b="0">
                <a:solidFill>
                  <a:srgbClr val="B4BED2"/>
                </a:solidFill>
                <a:latin typeface="Aptos"/>
              </a:rPr>
              <a:t>Insert actual application screenshots from your working demo</a:t>
            </a:r>
          </a:p>
        </p:txBody>
      </p:sp>
      <p:sp>
        <p:nvSpPr>
          <p:cNvPr id="6" name="Rounded Rectangle 5"/>
          <p:cNvSpPr/>
          <p:nvPr/>
        </p:nvSpPr>
        <p:spPr>
          <a:xfrm>
            <a:off x="685800" y="1600200"/>
            <a:ext cx="3337560" cy="4114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600200"/>
            <a:ext cx="64008" cy="41148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64792"/>
            <a:ext cx="2926079" cy="320040"/>
          </a:xfrm>
          <a:prstGeom prst="rect">
            <a:avLst/>
          </a:prstGeom>
          <a:noFill/>
        </p:spPr>
        <p:txBody>
          <a:bodyPr wrap="square">
            <a:spAutoFit/>
          </a:bodyPr>
          <a:lstStyle/>
          <a:p>
            <a:r>
              <a:rPr sz="1600" b="1">
                <a:solidFill>
                  <a:srgbClr val="F8FAFC"/>
                </a:solidFill>
                <a:latin typeface="Aptos"/>
              </a:rPr>
              <a:t>Beginner Output</a:t>
            </a:r>
          </a:p>
        </p:txBody>
      </p:sp>
      <p:sp>
        <p:nvSpPr>
          <p:cNvPr id="9" name="TextBox 8"/>
          <p:cNvSpPr txBox="1"/>
          <p:nvPr/>
        </p:nvSpPr>
        <p:spPr>
          <a:xfrm>
            <a:off x="914400" y="2167128"/>
            <a:ext cx="2926079" cy="3429000"/>
          </a:xfrm>
          <a:prstGeom prst="rect">
            <a:avLst/>
          </a:prstGeom>
          <a:noFill/>
        </p:spPr>
        <p:txBody>
          <a:bodyPr wrap="square">
            <a:spAutoFit/>
          </a:bodyPr>
          <a:lstStyle/>
          <a:p>
            <a:r>
              <a:rPr sz="1250" b="0">
                <a:solidFill>
                  <a:srgbClr val="B4BED2"/>
                </a:solidFill>
                <a:latin typeface="Aptos"/>
              </a:rPr>
              <a:t>INSERT SCREENSHOT
Simple explanation + analogy</a:t>
            </a:r>
          </a:p>
        </p:txBody>
      </p:sp>
      <p:sp>
        <p:nvSpPr>
          <p:cNvPr id="10" name="Rounded Rectangle 9"/>
          <p:cNvSpPr/>
          <p:nvPr/>
        </p:nvSpPr>
        <p:spPr>
          <a:xfrm>
            <a:off x="4480560" y="1600200"/>
            <a:ext cx="3337560" cy="4114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1600200"/>
            <a:ext cx="64008" cy="4114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1764792"/>
            <a:ext cx="2926079" cy="320040"/>
          </a:xfrm>
          <a:prstGeom prst="rect">
            <a:avLst/>
          </a:prstGeom>
          <a:noFill/>
        </p:spPr>
        <p:txBody>
          <a:bodyPr wrap="square">
            <a:spAutoFit/>
          </a:bodyPr>
          <a:lstStyle/>
          <a:p>
            <a:r>
              <a:rPr sz="1600" b="1">
                <a:solidFill>
                  <a:srgbClr val="F8FAFC"/>
                </a:solidFill>
                <a:latin typeface="Aptos"/>
              </a:rPr>
              <a:t>Intermediate Output</a:t>
            </a:r>
          </a:p>
        </p:txBody>
      </p:sp>
      <p:sp>
        <p:nvSpPr>
          <p:cNvPr id="13" name="TextBox 12"/>
          <p:cNvSpPr txBox="1"/>
          <p:nvPr/>
        </p:nvSpPr>
        <p:spPr>
          <a:xfrm>
            <a:off x="4709160" y="2167128"/>
            <a:ext cx="2926079" cy="3429000"/>
          </a:xfrm>
          <a:prstGeom prst="rect">
            <a:avLst/>
          </a:prstGeom>
          <a:noFill/>
        </p:spPr>
        <p:txBody>
          <a:bodyPr wrap="square">
            <a:spAutoFit/>
          </a:bodyPr>
          <a:lstStyle/>
          <a:p>
            <a:r>
              <a:rPr sz="1250" b="0">
                <a:solidFill>
                  <a:srgbClr val="B4BED2"/>
                </a:solidFill>
                <a:latin typeface="Aptos"/>
              </a:rPr>
              <a:t>INSERT SCREENSHOT
Technical depth + complexity</a:t>
            </a:r>
          </a:p>
        </p:txBody>
      </p:sp>
      <p:sp>
        <p:nvSpPr>
          <p:cNvPr id="14" name="Rounded Rectangle 13"/>
          <p:cNvSpPr/>
          <p:nvPr/>
        </p:nvSpPr>
        <p:spPr>
          <a:xfrm>
            <a:off x="8275320" y="1600200"/>
            <a:ext cx="3337560" cy="4114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75320" y="1600200"/>
            <a:ext cx="64008" cy="411480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0" y="1764792"/>
            <a:ext cx="2926079" cy="320040"/>
          </a:xfrm>
          <a:prstGeom prst="rect">
            <a:avLst/>
          </a:prstGeom>
          <a:noFill/>
        </p:spPr>
        <p:txBody>
          <a:bodyPr wrap="square">
            <a:spAutoFit/>
          </a:bodyPr>
          <a:lstStyle/>
          <a:p>
            <a:r>
              <a:rPr sz="1600" b="1">
                <a:solidFill>
                  <a:srgbClr val="F8FAFC"/>
                </a:solidFill>
                <a:latin typeface="Aptos"/>
              </a:rPr>
              <a:t>Advanced Output</a:t>
            </a:r>
          </a:p>
        </p:txBody>
      </p:sp>
      <p:sp>
        <p:nvSpPr>
          <p:cNvPr id="17" name="TextBox 16"/>
          <p:cNvSpPr txBox="1"/>
          <p:nvPr/>
        </p:nvSpPr>
        <p:spPr>
          <a:xfrm>
            <a:off x="8503920" y="2167128"/>
            <a:ext cx="2926079" cy="3429000"/>
          </a:xfrm>
          <a:prstGeom prst="rect">
            <a:avLst/>
          </a:prstGeom>
          <a:noFill/>
        </p:spPr>
        <p:txBody>
          <a:bodyPr wrap="square">
            <a:spAutoFit/>
          </a:bodyPr>
          <a:lstStyle/>
          <a:p>
            <a:r>
              <a:rPr sz="1250" b="0">
                <a:solidFill>
                  <a:srgbClr val="B4BED2"/>
                </a:solidFill>
                <a:latin typeface="Aptos"/>
              </a:rPr>
              <a:t>INSERT SCREENSHOT
Detailed technical reasoning</a:t>
            </a:r>
          </a:p>
        </p:txBody>
      </p:sp>
      <p:sp>
        <p:nvSpPr>
          <p:cNvPr id="18" name="TextBox 17"/>
          <p:cNvSpPr txBox="1"/>
          <p:nvPr/>
        </p:nvSpPr>
        <p:spPr>
          <a:xfrm>
            <a:off x="731520" y="5989320"/>
            <a:ext cx="10789920" cy="320040"/>
          </a:xfrm>
          <a:prstGeom prst="rect">
            <a:avLst/>
          </a:prstGeom>
          <a:noFill/>
        </p:spPr>
        <p:txBody>
          <a:bodyPr wrap="square">
            <a:spAutoFit/>
          </a:bodyPr>
          <a:lstStyle/>
          <a:p>
            <a:pPr algn="ctr"/>
            <a:r>
              <a:rPr sz="1100" b="0">
                <a:solidFill>
                  <a:srgbClr val="B4BED2"/>
                </a:solidFill>
                <a:latin typeface="Aptos"/>
              </a:rPr>
              <a:t>Use real screenshots from the deployed/local application as submission evidence.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972800" cy="594360"/>
          </a:xfrm>
          <a:prstGeom prst="rect">
            <a:avLst/>
          </a:prstGeom>
          <a:noFill/>
        </p:spPr>
        <p:txBody>
          <a:bodyPr wrap="square">
            <a:spAutoFit/>
          </a:bodyPr>
          <a:lstStyle/>
          <a:p>
            <a:r>
              <a:rPr sz="2800" b="1">
                <a:solidFill>
                  <a:srgbClr val="F8FAFC"/>
                </a:solidFill>
                <a:latin typeface="Aptos"/>
              </a:rPr>
              <a:t>Novelty &amp; Uniqueness</a:t>
            </a:r>
          </a:p>
        </p:txBody>
      </p:sp>
      <p:sp>
        <p:nvSpPr>
          <p:cNvPr id="5" name="TextBox 4"/>
          <p:cNvSpPr txBox="1"/>
          <p:nvPr/>
        </p:nvSpPr>
        <p:spPr>
          <a:xfrm>
            <a:off x="658368" y="987552"/>
            <a:ext cx="10789920" cy="457200"/>
          </a:xfrm>
          <a:prstGeom prst="rect">
            <a:avLst/>
          </a:prstGeom>
          <a:noFill/>
        </p:spPr>
        <p:txBody>
          <a:bodyPr wrap="square">
            <a:spAutoFit/>
          </a:bodyPr>
          <a:lstStyle/>
          <a:p>
            <a:r>
              <a:rPr sz="1300" b="0">
                <a:solidFill>
                  <a:srgbClr val="B4BED2"/>
                </a:solidFill>
                <a:latin typeface="Aptos"/>
              </a:rPr>
              <a:t>What differentiates the solution</a:t>
            </a:r>
          </a:p>
        </p:txBody>
      </p:sp>
      <p:sp>
        <p:nvSpPr>
          <p:cNvPr id="6" name="TextBox 5"/>
          <p:cNvSpPr txBox="1"/>
          <p:nvPr/>
        </p:nvSpPr>
        <p:spPr>
          <a:xfrm>
            <a:off x="777240" y="1417320"/>
            <a:ext cx="10698480" cy="4480560"/>
          </a:xfrm>
          <a:prstGeom prst="rect">
            <a:avLst/>
          </a:prstGeom>
          <a:noFill/>
        </p:spPr>
        <p:txBody>
          <a:bodyPr wrap="square">
            <a:spAutoFit/>
          </a:bodyPr>
          <a:lstStyle/>
          <a:p>
            <a:r>
              <a:rPr sz="1600" b="0">
                <a:solidFill>
                  <a:srgbClr val="F8FAFC"/>
                </a:solidFill>
                <a:latin typeface="Aptos"/>
              </a:rPr>
              <a:t>• Adaptive learning levels — one system serves beginner, intermediate, and advanced learners.
• Core concept identification — focuses the output on the main academic idea.
• PDF + text workflow — supports common student study-material formats.
• Structured educational output — explanation, key concepts, and analogy in one response.
• Integrated study generation — questions, revision points, and MCQs are generated from the same content.
• Student-first workflow — upload/paste → choose level → generate → copy/download.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972800" cy="594360"/>
          </a:xfrm>
          <a:prstGeom prst="rect">
            <a:avLst/>
          </a:prstGeom>
          <a:noFill/>
        </p:spPr>
        <p:txBody>
          <a:bodyPr wrap="square">
            <a:spAutoFit/>
          </a:bodyPr>
          <a:lstStyle/>
          <a:p>
            <a:r>
              <a:rPr sz="2800" b="1">
                <a:solidFill>
                  <a:srgbClr val="F8FAFC"/>
                </a:solidFill>
                <a:latin typeface="Aptos"/>
              </a:rPr>
              <a:t>Future Scope</a:t>
            </a:r>
          </a:p>
        </p:txBody>
      </p:sp>
      <p:sp>
        <p:nvSpPr>
          <p:cNvPr id="5" name="TextBox 4"/>
          <p:cNvSpPr txBox="1"/>
          <p:nvPr/>
        </p:nvSpPr>
        <p:spPr>
          <a:xfrm>
            <a:off x="658368" y="987552"/>
            <a:ext cx="10789920" cy="457200"/>
          </a:xfrm>
          <a:prstGeom prst="rect">
            <a:avLst/>
          </a:prstGeom>
          <a:noFill/>
        </p:spPr>
        <p:txBody>
          <a:bodyPr wrap="square">
            <a:spAutoFit/>
          </a:bodyPr>
          <a:lstStyle/>
          <a:p>
            <a:r>
              <a:rPr sz="1300" b="0">
                <a:solidFill>
                  <a:srgbClr val="B4BED2"/>
                </a:solidFill>
                <a:latin typeface="Aptos"/>
              </a:rPr>
              <a:t>Possible extensions</a:t>
            </a:r>
          </a:p>
        </p:txBody>
      </p:sp>
      <p:sp>
        <p:nvSpPr>
          <p:cNvPr id="6" name="Rounded Rectangle 5"/>
          <p:cNvSpPr/>
          <p:nvPr/>
        </p:nvSpPr>
        <p:spPr>
          <a:xfrm>
            <a:off x="685800" y="1417320"/>
            <a:ext cx="5303520" cy="1828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64008" cy="1828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81912"/>
            <a:ext cx="4892040" cy="320040"/>
          </a:xfrm>
          <a:prstGeom prst="rect">
            <a:avLst/>
          </a:prstGeom>
          <a:noFill/>
        </p:spPr>
        <p:txBody>
          <a:bodyPr wrap="square">
            <a:spAutoFit/>
          </a:bodyPr>
          <a:lstStyle/>
          <a:p>
            <a:r>
              <a:rPr sz="1600" b="1">
                <a:solidFill>
                  <a:srgbClr val="F8FAFC"/>
                </a:solidFill>
                <a:latin typeface="Aptos"/>
              </a:rPr>
              <a:t>Multilingual + Voice</a:t>
            </a:r>
          </a:p>
        </p:txBody>
      </p:sp>
      <p:sp>
        <p:nvSpPr>
          <p:cNvPr id="9" name="TextBox 8"/>
          <p:cNvSpPr txBox="1"/>
          <p:nvPr/>
        </p:nvSpPr>
        <p:spPr>
          <a:xfrm>
            <a:off x="914400" y="1984248"/>
            <a:ext cx="4892040" cy="1143000"/>
          </a:xfrm>
          <a:prstGeom prst="rect">
            <a:avLst/>
          </a:prstGeom>
          <a:noFill/>
        </p:spPr>
        <p:txBody>
          <a:bodyPr wrap="square">
            <a:spAutoFit/>
          </a:bodyPr>
          <a:lstStyle/>
          <a:p>
            <a:r>
              <a:rPr sz="1250" b="0">
                <a:solidFill>
                  <a:srgbClr val="B4BED2"/>
                </a:solidFill>
                <a:latin typeface="Aptos"/>
              </a:rPr>
              <a:t>Support Indian and international languages, speech input, and text-to-speech learning.</a:t>
            </a:r>
          </a:p>
        </p:txBody>
      </p:sp>
      <p:sp>
        <p:nvSpPr>
          <p:cNvPr id="10" name="Rounded Rectangle 9"/>
          <p:cNvSpPr/>
          <p:nvPr/>
        </p:nvSpPr>
        <p:spPr>
          <a:xfrm>
            <a:off x="6217920" y="1417320"/>
            <a:ext cx="5303520" cy="1828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417320"/>
            <a:ext cx="64008" cy="1828800"/>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581912"/>
            <a:ext cx="4892040" cy="320040"/>
          </a:xfrm>
          <a:prstGeom prst="rect">
            <a:avLst/>
          </a:prstGeom>
          <a:noFill/>
        </p:spPr>
        <p:txBody>
          <a:bodyPr wrap="square">
            <a:spAutoFit/>
          </a:bodyPr>
          <a:lstStyle/>
          <a:p>
            <a:r>
              <a:rPr sz="1600" b="1">
                <a:solidFill>
                  <a:srgbClr val="F8FAFC"/>
                </a:solidFill>
                <a:latin typeface="Aptos"/>
              </a:rPr>
              <a:t>More File Formats</a:t>
            </a:r>
          </a:p>
        </p:txBody>
      </p:sp>
      <p:sp>
        <p:nvSpPr>
          <p:cNvPr id="13" name="TextBox 12"/>
          <p:cNvSpPr txBox="1"/>
          <p:nvPr/>
        </p:nvSpPr>
        <p:spPr>
          <a:xfrm>
            <a:off x="6446520" y="1984248"/>
            <a:ext cx="4892040" cy="1143000"/>
          </a:xfrm>
          <a:prstGeom prst="rect">
            <a:avLst/>
          </a:prstGeom>
          <a:noFill/>
        </p:spPr>
        <p:txBody>
          <a:bodyPr wrap="square">
            <a:spAutoFit/>
          </a:bodyPr>
          <a:lstStyle/>
          <a:p>
            <a:r>
              <a:rPr sz="1250" b="0">
                <a:solidFill>
                  <a:srgbClr val="B4BED2"/>
                </a:solidFill>
                <a:latin typeface="Aptos"/>
              </a:rPr>
              <a:t>Extend ingestion to DOCX, PPTX, scanned notes, and image-based content using OCR.</a:t>
            </a:r>
          </a:p>
        </p:txBody>
      </p:sp>
      <p:sp>
        <p:nvSpPr>
          <p:cNvPr id="14" name="Rounded Rectangle 13"/>
          <p:cNvSpPr/>
          <p:nvPr/>
        </p:nvSpPr>
        <p:spPr>
          <a:xfrm>
            <a:off x="685800" y="3520440"/>
            <a:ext cx="5303520" cy="1828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520440"/>
            <a:ext cx="64008" cy="18288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685032"/>
            <a:ext cx="4892040" cy="320040"/>
          </a:xfrm>
          <a:prstGeom prst="rect">
            <a:avLst/>
          </a:prstGeom>
          <a:noFill/>
        </p:spPr>
        <p:txBody>
          <a:bodyPr wrap="square">
            <a:spAutoFit/>
          </a:bodyPr>
          <a:lstStyle/>
          <a:p>
            <a:r>
              <a:rPr sz="1600" b="1">
                <a:solidFill>
                  <a:srgbClr val="F8FAFC"/>
                </a:solidFill>
                <a:latin typeface="Aptos"/>
              </a:rPr>
              <a:t>Personalized Learning History</a:t>
            </a:r>
          </a:p>
        </p:txBody>
      </p:sp>
      <p:sp>
        <p:nvSpPr>
          <p:cNvPr id="17" name="TextBox 16"/>
          <p:cNvSpPr txBox="1"/>
          <p:nvPr/>
        </p:nvSpPr>
        <p:spPr>
          <a:xfrm>
            <a:off x="914400" y="4087368"/>
            <a:ext cx="4892040" cy="1143000"/>
          </a:xfrm>
          <a:prstGeom prst="rect">
            <a:avLst/>
          </a:prstGeom>
          <a:noFill/>
        </p:spPr>
        <p:txBody>
          <a:bodyPr wrap="square">
            <a:spAutoFit/>
          </a:bodyPr>
          <a:lstStyle/>
          <a:p>
            <a:r>
              <a:rPr sz="1250" b="0">
                <a:solidFill>
                  <a:srgbClr val="B4BED2"/>
                </a:solidFill>
                <a:latin typeface="Aptos"/>
              </a:rPr>
              <a:t>Track topics, difficulty, and revision progress to make future explanations more targeted.</a:t>
            </a:r>
          </a:p>
        </p:txBody>
      </p:sp>
      <p:sp>
        <p:nvSpPr>
          <p:cNvPr id="18" name="Rounded Rectangle 17"/>
          <p:cNvSpPr/>
          <p:nvPr/>
        </p:nvSpPr>
        <p:spPr>
          <a:xfrm>
            <a:off x="6217920" y="3520440"/>
            <a:ext cx="5303520" cy="182880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520440"/>
            <a:ext cx="64008" cy="1828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685032"/>
            <a:ext cx="4892040" cy="320040"/>
          </a:xfrm>
          <a:prstGeom prst="rect">
            <a:avLst/>
          </a:prstGeom>
          <a:noFill/>
        </p:spPr>
        <p:txBody>
          <a:bodyPr wrap="square">
            <a:spAutoFit/>
          </a:bodyPr>
          <a:lstStyle/>
          <a:p>
            <a:r>
              <a:rPr sz="1600" b="1">
                <a:solidFill>
                  <a:srgbClr val="F8FAFC"/>
                </a:solidFill>
                <a:latin typeface="Aptos"/>
              </a:rPr>
              <a:t>Adaptive Assessment</a:t>
            </a:r>
          </a:p>
        </p:txBody>
      </p:sp>
      <p:sp>
        <p:nvSpPr>
          <p:cNvPr id="21" name="TextBox 20"/>
          <p:cNvSpPr txBox="1"/>
          <p:nvPr/>
        </p:nvSpPr>
        <p:spPr>
          <a:xfrm>
            <a:off x="6446520" y="4087368"/>
            <a:ext cx="4892040" cy="1143000"/>
          </a:xfrm>
          <a:prstGeom prst="rect">
            <a:avLst/>
          </a:prstGeom>
          <a:noFill/>
        </p:spPr>
        <p:txBody>
          <a:bodyPr wrap="square">
            <a:spAutoFit/>
          </a:bodyPr>
          <a:lstStyle/>
          <a:p>
            <a:r>
              <a:rPr sz="1250" b="0">
                <a:solidFill>
                  <a:srgbClr val="B4BED2"/>
                </a:solidFill>
                <a:latin typeface="Aptos"/>
              </a:rPr>
              <a:t>Generate quizzes and dynamically adjust difficulty based on student performance.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972800" cy="594360"/>
          </a:xfrm>
          <a:prstGeom prst="rect">
            <a:avLst/>
          </a:prstGeom>
          <a:noFill/>
        </p:spPr>
        <p:txBody>
          <a:bodyPr wrap="square">
            <a:spAutoFit/>
          </a:bodyPr>
          <a:lstStyle/>
          <a:p>
            <a:r>
              <a:rPr sz="2800" b="1">
                <a:solidFill>
                  <a:srgbClr val="F8FAFC"/>
                </a:solidFill>
                <a:latin typeface="Aptos"/>
              </a:rPr>
              <a:t>Project Repository &amp; Submission</a:t>
            </a:r>
          </a:p>
        </p:txBody>
      </p:sp>
      <p:sp>
        <p:nvSpPr>
          <p:cNvPr id="5" name="TextBox 4"/>
          <p:cNvSpPr txBox="1"/>
          <p:nvPr/>
        </p:nvSpPr>
        <p:spPr>
          <a:xfrm>
            <a:off x="658368" y="987552"/>
            <a:ext cx="10789920" cy="457200"/>
          </a:xfrm>
          <a:prstGeom prst="rect">
            <a:avLst/>
          </a:prstGeom>
          <a:noFill/>
        </p:spPr>
        <p:txBody>
          <a:bodyPr wrap="square">
            <a:spAutoFit/>
          </a:bodyPr>
          <a:lstStyle/>
          <a:p>
            <a:r>
              <a:rPr sz="1300" b="0">
                <a:solidFill>
                  <a:srgbClr val="B4BED2"/>
                </a:solidFill>
                <a:latin typeface="Aptos"/>
              </a:rPr>
              <a:t>Files to include in the public repository</a:t>
            </a:r>
          </a:p>
        </p:txBody>
      </p:sp>
      <p:sp>
        <p:nvSpPr>
          <p:cNvPr id="6" name="TextBox 5"/>
          <p:cNvSpPr txBox="1"/>
          <p:nvPr/>
        </p:nvSpPr>
        <p:spPr>
          <a:xfrm>
            <a:off x="822960" y="1417320"/>
            <a:ext cx="5669280" cy="4389120"/>
          </a:xfrm>
          <a:prstGeom prst="rect">
            <a:avLst/>
          </a:prstGeom>
          <a:noFill/>
        </p:spPr>
        <p:txBody>
          <a:bodyPr wrap="square">
            <a:spAutoFit/>
          </a:bodyPr>
          <a:lstStyle/>
          <a:p>
            <a:r>
              <a:rPr sz="1500" b="0">
                <a:solidFill>
                  <a:srgbClr val="F8FAFC"/>
                </a:solidFill>
                <a:latin typeface="Aptos"/>
              </a:rPr>
              <a:t>• All agent-relevant IBM Bob / IBM Cloud project files
• backend.py and frontend.html
• agents / tools / generated project files
• requirements.txt
• README.md
• Problem statement PDF
• Project presentation PPTX
• Supporting assets and configuration files</a:t>
            </a:r>
          </a:p>
        </p:txBody>
      </p:sp>
      <p:sp>
        <p:nvSpPr>
          <p:cNvPr id="7" name="Rounded Rectangle 6"/>
          <p:cNvSpPr/>
          <p:nvPr/>
        </p:nvSpPr>
        <p:spPr>
          <a:xfrm>
            <a:off x="6858000" y="1600200"/>
            <a:ext cx="4206240" cy="3474720"/>
          </a:xfrm>
          <a:prstGeom prst="roundRect">
            <a:avLst/>
          </a:prstGeom>
          <a:solidFill>
            <a:srgbClr val="121B34"/>
          </a:solidFill>
          <a:ln>
            <a:solidFill>
              <a:srgbClr val="2B3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0" y="1600200"/>
            <a:ext cx="64008" cy="3474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1764792"/>
            <a:ext cx="3794759" cy="320040"/>
          </a:xfrm>
          <a:prstGeom prst="rect">
            <a:avLst/>
          </a:prstGeom>
          <a:noFill/>
        </p:spPr>
        <p:txBody>
          <a:bodyPr wrap="square">
            <a:spAutoFit/>
          </a:bodyPr>
          <a:lstStyle/>
          <a:p>
            <a:r>
              <a:rPr sz="1600" b="1">
                <a:solidFill>
                  <a:srgbClr val="F8FAFC"/>
                </a:solidFill>
                <a:latin typeface="Aptos"/>
              </a:rPr>
              <a:t>GitHub URL</a:t>
            </a:r>
          </a:p>
        </p:txBody>
      </p:sp>
      <p:sp>
        <p:nvSpPr>
          <p:cNvPr id="10" name="TextBox 9"/>
          <p:cNvSpPr txBox="1"/>
          <p:nvPr/>
        </p:nvSpPr>
        <p:spPr>
          <a:xfrm>
            <a:off x="7086600" y="2167128"/>
            <a:ext cx="3794759" cy="2788920"/>
          </a:xfrm>
          <a:prstGeom prst="rect">
            <a:avLst/>
          </a:prstGeom>
          <a:noFill/>
        </p:spPr>
        <p:txBody>
          <a:bodyPr wrap="square">
            <a:spAutoFit/>
          </a:bodyPr>
          <a:lstStyle/>
          <a:p>
            <a:r>
              <a:rPr sz="1250" b="0">
                <a:solidFill>
                  <a:srgbClr val="B4BED2"/>
                </a:solidFill>
                <a:latin typeface="Aptos"/>
              </a:rPr>
              <a:t>[PASTE WORKING PUBLIC REPOSITORY URL HERE]
Test the repository before submitting.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F23"/>
        </a:solidFill>
        <a:effectLst/>
      </p:bgPr>
    </p:bg>
    <p:spTree>
      <p:nvGrpSpPr>
        <p:cNvPr id="1" name=""/>
        <p:cNvGrpSpPr/>
        <p:nvPr/>
      </p:nvGrpSpPr>
      <p:grpSpPr/>
      <p:sp>
        <p:nvSpPr>
          <p:cNvPr id="2" name="Rectangle 1"/>
          <p:cNvSpPr/>
          <p:nvPr/>
        </p:nvSpPr>
        <p:spPr>
          <a:xfrm>
            <a:off x="0" y="0"/>
            <a:ext cx="3840480" cy="54864"/>
          </a:xfrm>
          <a:prstGeom prst="rect">
            <a:avLst/>
          </a:prstGeom>
          <a:solidFill>
            <a:srgbClr val="4C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82880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789920" cy="548640"/>
          </a:xfrm>
          <a:prstGeom prst="rect">
            <a:avLst/>
          </a:prstGeom>
          <a:noFill/>
        </p:spPr>
        <p:txBody>
          <a:bodyPr wrap="square">
            <a:spAutoFit/>
          </a:bodyPr>
          <a:lstStyle/>
          <a:p>
            <a:pPr algn="ctr"/>
            <a:r>
              <a:rPr sz="3000" b="1">
                <a:solidFill>
                  <a:srgbClr val="F8FAFC"/>
                </a:solidFill>
                <a:latin typeface="Aptos"/>
              </a:rPr>
              <a:t>Conclusion</a:t>
            </a:r>
          </a:p>
        </p:txBody>
      </p:sp>
      <p:sp>
        <p:nvSpPr>
          <p:cNvPr id="5" name="TextBox 4"/>
          <p:cNvSpPr txBox="1"/>
          <p:nvPr/>
        </p:nvSpPr>
        <p:spPr>
          <a:xfrm>
            <a:off x="1188720" y="2331720"/>
            <a:ext cx="9875520" cy="1280160"/>
          </a:xfrm>
          <a:prstGeom prst="rect">
            <a:avLst/>
          </a:prstGeom>
          <a:noFill/>
        </p:spPr>
        <p:txBody>
          <a:bodyPr wrap="square">
            <a:spAutoFit/>
          </a:bodyPr>
          <a:lstStyle/>
          <a:p>
            <a:pPr algn="ctr"/>
            <a:r>
              <a:rPr sz="3200" b="1">
                <a:solidFill>
                  <a:srgbClr val="22D3EE"/>
                </a:solidFill>
                <a:latin typeface="Aptos"/>
              </a:rPr>
              <a:t>A smarter way to learn complex course content</a:t>
            </a:r>
          </a:p>
        </p:txBody>
      </p:sp>
      <p:sp>
        <p:nvSpPr>
          <p:cNvPr id="6" name="TextBox 5"/>
          <p:cNvSpPr txBox="1"/>
          <p:nvPr/>
        </p:nvSpPr>
        <p:spPr>
          <a:xfrm>
            <a:off x="1463040" y="3703320"/>
            <a:ext cx="9235440" cy="1097280"/>
          </a:xfrm>
          <a:prstGeom prst="rect">
            <a:avLst/>
          </a:prstGeom>
          <a:noFill/>
        </p:spPr>
        <p:txBody>
          <a:bodyPr wrap="square">
            <a:spAutoFit/>
          </a:bodyPr>
          <a:lstStyle/>
          <a:p>
            <a:pPr algn="ctr"/>
            <a:r>
              <a:rPr sz="1800" b="0">
                <a:solidFill>
                  <a:srgbClr val="B4BED2"/>
                </a:solidFill>
                <a:latin typeface="Aptos"/>
              </a:rPr>
              <a:t>The Course Content Simplification Agent adapts explanations to learner proficiency and turns academic content into understandable, structured, revision-ready material.</a:t>
            </a:r>
          </a:p>
        </p:txBody>
      </p:sp>
      <p:sp>
        <p:nvSpPr>
          <p:cNvPr id="7" name="TextBox 6"/>
          <p:cNvSpPr txBox="1"/>
          <p:nvPr/>
        </p:nvSpPr>
        <p:spPr>
          <a:xfrm>
            <a:off x="731520" y="5806440"/>
            <a:ext cx="10789920" cy="365760"/>
          </a:xfrm>
          <a:prstGeom prst="rect">
            <a:avLst/>
          </a:prstGeom>
          <a:noFill/>
        </p:spPr>
        <p:txBody>
          <a:bodyPr wrap="square">
            <a:spAutoFit/>
          </a:bodyPr>
          <a:lstStyle/>
          <a:p>
            <a:pPr algn="ctr"/>
            <a:r>
              <a:rPr sz="2000" b="1">
                <a:solidFill>
                  <a:srgbClr val="F8FAFC"/>
                </a:solidFill>
                <a:latin typeface="Apto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